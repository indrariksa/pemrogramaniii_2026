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79" r:id="rId5"/>
    <p:sldId id="280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77" r:id="rId14"/>
    <p:sldId id="278" r:id="rId15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511" autoAdjust="0"/>
    <p:restoredTop sz="55093" autoAdjust="0"/>
  </p:normalViewPr>
  <p:slideViewPr>
    <p:cSldViewPr>
      <p:cViewPr varScale="1">
        <p:scale>
          <a:sx n="57" d="100"/>
          <a:sy n="57" d="100"/>
        </p:scale>
        <p:origin x="1408" y="26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25" d="100"/>
        <a:sy n="12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17C811-C17D-4703-8B3A-2703EE431D5F}" type="datetimeFigureOut">
              <a:rPr lang="en-ID" smtClean="0"/>
              <a:t>02/03/26</a:t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D03F0E-4D61-4CDB-95CE-9F60B0A7D46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276725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 dirty="0"/>
              <a:t>Pada </a:t>
            </a:r>
            <a:r>
              <a:rPr lang="en-ID" dirty="0" err="1"/>
              <a:t>mata</a:t>
            </a:r>
            <a:r>
              <a:rPr lang="en-ID" dirty="0"/>
              <a:t> </a:t>
            </a:r>
            <a:r>
              <a:rPr lang="en-ID" dirty="0" err="1"/>
              <a:t>kuliah</a:t>
            </a:r>
            <a:r>
              <a:rPr lang="en-ID" dirty="0"/>
              <a:t>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kita</a:t>
            </a:r>
            <a:r>
              <a:rPr lang="en-ID" dirty="0"/>
              <a:t> </a:t>
            </a:r>
            <a:r>
              <a:rPr lang="en-ID" dirty="0" err="1"/>
              <a:t>akan</a:t>
            </a:r>
            <a:r>
              <a:rPr lang="en-ID" dirty="0"/>
              <a:t> </a:t>
            </a:r>
            <a:r>
              <a:rPr lang="en-ID" dirty="0" err="1"/>
              <a:t>mempelajari</a:t>
            </a:r>
            <a:r>
              <a:rPr lang="en-ID" dirty="0"/>
              <a:t> Web Service </a:t>
            </a:r>
            <a:r>
              <a:rPr lang="en-ID" dirty="0" err="1"/>
              <a:t>atau</a:t>
            </a:r>
            <a:r>
              <a:rPr lang="en-ID" dirty="0"/>
              <a:t> API, API </a:t>
            </a:r>
            <a:r>
              <a:rPr lang="en-ID" dirty="0" err="1"/>
              <a:t>saat</a:t>
            </a:r>
            <a:r>
              <a:rPr lang="en-ID" dirty="0"/>
              <a:t>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menjadi</a:t>
            </a:r>
            <a:r>
              <a:rPr lang="en-ID" dirty="0"/>
              <a:t> salah </a:t>
            </a:r>
            <a:r>
              <a:rPr lang="en-ID" dirty="0" err="1"/>
              <a:t>satu</a:t>
            </a:r>
            <a:r>
              <a:rPr lang="en-ID" dirty="0"/>
              <a:t> </a:t>
            </a:r>
            <a:r>
              <a:rPr lang="en-ID" dirty="0" err="1"/>
              <a:t>teknologi</a:t>
            </a:r>
            <a:r>
              <a:rPr lang="en-ID" dirty="0"/>
              <a:t> paling </a:t>
            </a:r>
            <a:r>
              <a:rPr lang="en-ID" dirty="0" err="1"/>
              <a:t>penting</a:t>
            </a:r>
            <a:r>
              <a:rPr lang="en-ID" dirty="0"/>
              <a:t> di dunia </a:t>
            </a:r>
            <a:r>
              <a:rPr lang="en-ID" dirty="0" err="1"/>
              <a:t>industri</a:t>
            </a:r>
            <a:r>
              <a:rPr lang="en-ID" dirty="0"/>
              <a:t> </a:t>
            </a:r>
            <a:r>
              <a:rPr lang="en-ID" dirty="0" err="1"/>
              <a:t>teknologi</a:t>
            </a:r>
            <a:r>
              <a:rPr lang="en-ID" dirty="0"/>
              <a:t> </a:t>
            </a:r>
            <a:r>
              <a:rPr lang="en-ID" dirty="0" err="1"/>
              <a:t>informasi</a:t>
            </a:r>
            <a:r>
              <a:rPr lang="en-ID" dirty="0"/>
              <a:t>.</a:t>
            </a:r>
          </a:p>
          <a:p>
            <a:r>
              <a:rPr lang="en-ID" dirty="0" err="1"/>
              <a:t>Hampir</a:t>
            </a:r>
            <a:r>
              <a:rPr lang="en-ID" dirty="0"/>
              <a:t> </a:t>
            </a:r>
            <a:r>
              <a:rPr lang="en-ID" dirty="0" err="1"/>
              <a:t>semua</a:t>
            </a:r>
            <a:r>
              <a:rPr lang="en-ID" dirty="0"/>
              <a:t> </a:t>
            </a:r>
            <a:r>
              <a:rPr lang="en-ID" dirty="0" err="1"/>
              <a:t>perusahaan</a:t>
            </a:r>
            <a:r>
              <a:rPr lang="en-ID" dirty="0"/>
              <a:t> yang </a:t>
            </a:r>
            <a:r>
              <a:rPr lang="en-ID" dirty="0" err="1"/>
              <a:t>bergerak</a:t>
            </a:r>
            <a:r>
              <a:rPr lang="en-ID" dirty="0"/>
              <a:t> di </a:t>
            </a:r>
            <a:r>
              <a:rPr lang="en-ID" dirty="0" err="1"/>
              <a:t>bidang</a:t>
            </a:r>
            <a:r>
              <a:rPr lang="en-ID" dirty="0"/>
              <a:t> digital — </a:t>
            </a:r>
            <a:r>
              <a:rPr lang="en-ID" dirty="0" err="1"/>
              <a:t>baik</a:t>
            </a:r>
            <a:r>
              <a:rPr lang="en-ID" dirty="0"/>
              <a:t> </a:t>
            </a:r>
            <a:r>
              <a:rPr lang="en-ID" dirty="0" err="1"/>
              <a:t>startup</a:t>
            </a:r>
            <a:r>
              <a:rPr lang="en-ID" dirty="0"/>
              <a:t> </a:t>
            </a:r>
            <a:r>
              <a:rPr lang="en-ID" dirty="0" err="1"/>
              <a:t>maupun</a:t>
            </a:r>
            <a:r>
              <a:rPr lang="en-ID" dirty="0"/>
              <a:t> </a:t>
            </a:r>
            <a:r>
              <a:rPr lang="en-ID" dirty="0" err="1"/>
              <a:t>perusahaan</a:t>
            </a:r>
            <a:r>
              <a:rPr lang="en-ID" dirty="0"/>
              <a:t> </a:t>
            </a:r>
            <a:r>
              <a:rPr lang="en-ID" dirty="0" err="1"/>
              <a:t>besar</a:t>
            </a:r>
            <a:r>
              <a:rPr lang="en-ID" dirty="0"/>
              <a:t> — </a:t>
            </a:r>
            <a:r>
              <a:rPr lang="en-ID" dirty="0" err="1"/>
              <a:t>sudah</a:t>
            </a:r>
            <a:r>
              <a:rPr lang="en-ID" dirty="0"/>
              <a:t> </a:t>
            </a:r>
            <a:r>
              <a:rPr lang="en-ID" dirty="0" err="1"/>
              <a:t>menggunakan</a:t>
            </a:r>
            <a:r>
              <a:rPr lang="en-ID" dirty="0"/>
              <a:t> </a:t>
            </a:r>
            <a:r>
              <a:rPr lang="en-ID" dirty="0" err="1"/>
              <a:t>arsitektur</a:t>
            </a:r>
            <a:r>
              <a:rPr lang="en-ID" dirty="0"/>
              <a:t> </a:t>
            </a:r>
            <a:r>
              <a:rPr lang="en-ID" dirty="0" err="1"/>
              <a:t>berbasis</a:t>
            </a:r>
            <a:r>
              <a:rPr lang="en-ID" dirty="0"/>
              <a:t> API. E-commerce, </a:t>
            </a:r>
            <a:r>
              <a:rPr lang="en-ID" dirty="0" err="1"/>
              <a:t>perbankan</a:t>
            </a:r>
            <a:r>
              <a:rPr lang="en-ID" dirty="0"/>
              <a:t> digital, </a:t>
            </a:r>
            <a:r>
              <a:rPr lang="en-ID" dirty="0" err="1"/>
              <a:t>sistem</a:t>
            </a:r>
            <a:r>
              <a:rPr lang="en-ID" dirty="0"/>
              <a:t> </a:t>
            </a:r>
            <a:r>
              <a:rPr lang="en-ID" dirty="0" err="1"/>
              <a:t>logistik</a:t>
            </a:r>
            <a:r>
              <a:rPr lang="en-ID" dirty="0"/>
              <a:t>, marketplace, </a:t>
            </a:r>
            <a:r>
              <a:rPr lang="en-ID" dirty="0" err="1"/>
              <a:t>aplikasi</a:t>
            </a:r>
            <a:r>
              <a:rPr lang="en-ID" dirty="0"/>
              <a:t> </a:t>
            </a:r>
            <a:r>
              <a:rPr lang="en-ID" dirty="0" err="1"/>
              <a:t>transportasi</a:t>
            </a:r>
            <a:r>
              <a:rPr lang="en-ID" dirty="0"/>
              <a:t> online, </a:t>
            </a:r>
            <a:r>
              <a:rPr lang="en-ID" dirty="0" err="1"/>
              <a:t>hingga</a:t>
            </a:r>
            <a:r>
              <a:rPr lang="en-ID" dirty="0"/>
              <a:t> </a:t>
            </a:r>
            <a:r>
              <a:rPr lang="en-ID" dirty="0" err="1"/>
              <a:t>sistem</a:t>
            </a:r>
            <a:r>
              <a:rPr lang="en-ID" dirty="0"/>
              <a:t> HR dan ERP </a:t>
            </a:r>
            <a:r>
              <a:rPr lang="en-ID" dirty="0" err="1"/>
              <a:t>perusahaan</a:t>
            </a:r>
            <a:r>
              <a:rPr lang="en-ID" dirty="0"/>
              <a:t>, </a:t>
            </a:r>
            <a:r>
              <a:rPr lang="en-ID" dirty="0" err="1"/>
              <a:t>semuanya</a:t>
            </a:r>
            <a:r>
              <a:rPr lang="en-ID" dirty="0"/>
              <a:t> </a:t>
            </a:r>
            <a:r>
              <a:rPr lang="en-ID" dirty="0" err="1"/>
              <a:t>berjalan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komunikasi</a:t>
            </a:r>
            <a:r>
              <a:rPr lang="en-ID" dirty="0"/>
              <a:t> </a:t>
            </a:r>
            <a:r>
              <a:rPr lang="en-ID" dirty="0" err="1"/>
              <a:t>antar</a:t>
            </a:r>
            <a:r>
              <a:rPr lang="en-ID" dirty="0"/>
              <a:t> </a:t>
            </a:r>
            <a:r>
              <a:rPr lang="en-ID" dirty="0" err="1"/>
              <a:t>sistem</a:t>
            </a:r>
            <a:r>
              <a:rPr lang="en-ID" dirty="0"/>
              <a:t> </a:t>
            </a:r>
            <a:r>
              <a:rPr lang="en-ID" dirty="0" err="1"/>
              <a:t>melalui</a:t>
            </a:r>
            <a:r>
              <a:rPr lang="en-ID" dirty="0"/>
              <a:t> Web Service.</a:t>
            </a:r>
          </a:p>
          <a:p>
            <a:endParaRPr lang="en-ID" dirty="0"/>
          </a:p>
          <a:p>
            <a:r>
              <a:rPr lang="en-ID" dirty="0" err="1"/>
              <a:t>Analogi</a:t>
            </a:r>
            <a:r>
              <a:rPr lang="en-ID" dirty="0"/>
              <a:t> Web Service (</a:t>
            </a:r>
            <a:r>
              <a:rPr lang="en-ID" dirty="0" err="1"/>
              <a:t>ada</a:t>
            </a:r>
            <a:r>
              <a:rPr lang="en-ID" dirty="0"/>
              <a:t> backend dan frontend):</a:t>
            </a:r>
            <a:br>
              <a:rPr lang="en-ID" dirty="0"/>
            </a:br>
            <a:r>
              <a:rPr lang="en-ID" dirty="0" err="1"/>
              <a:t>Bayangkan</a:t>
            </a:r>
            <a:r>
              <a:rPr lang="en-ID" dirty="0"/>
              <a:t> </a:t>
            </a:r>
            <a:r>
              <a:rPr lang="en-ID" dirty="0" err="1"/>
              <a:t>sebuah</a:t>
            </a:r>
            <a:r>
              <a:rPr lang="en-ID" dirty="0"/>
              <a:t> </a:t>
            </a:r>
            <a:r>
              <a:rPr lang="en-ID" dirty="0" err="1"/>
              <a:t>restoran</a:t>
            </a:r>
            <a:r>
              <a:rPr lang="en-ID" dirty="0"/>
              <a:t>.</a:t>
            </a:r>
          </a:p>
          <a:p>
            <a:r>
              <a:rPr lang="en-ID" dirty="0"/>
              <a:t>Frontend </a:t>
            </a:r>
            <a:r>
              <a:rPr lang="en-ID" dirty="0" err="1"/>
              <a:t>itu</a:t>
            </a:r>
            <a:r>
              <a:rPr lang="en-ID" dirty="0"/>
              <a:t> </a:t>
            </a:r>
            <a:r>
              <a:rPr lang="en-ID" dirty="0" err="1"/>
              <a:t>ibarat</a:t>
            </a:r>
            <a:r>
              <a:rPr lang="en-ID" dirty="0"/>
              <a:t> </a:t>
            </a:r>
            <a:r>
              <a:rPr lang="en-ID" dirty="0" err="1"/>
              <a:t>pelanggan</a:t>
            </a:r>
            <a:r>
              <a:rPr lang="en-ID" dirty="0"/>
              <a:t> yang duduk di </a:t>
            </a:r>
            <a:r>
              <a:rPr lang="en-ID" dirty="0" err="1"/>
              <a:t>meja</a:t>
            </a:r>
            <a:r>
              <a:rPr lang="en-ID" dirty="0"/>
              <a:t>. </a:t>
            </a:r>
            <a:r>
              <a:rPr lang="en-ID" dirty="0" err="1"/>
              <a:t>Pelanggan</a:t>
            </a:r>
            <a:r>
              <a:rPr lang="en-ID" dirty="0"/>
              <a:t> </a:t>
            </a:r>
            <a:r>
              <a:rPr lang="en-ID" dirty="0" err="1"/>
              <a:t>hanya</a:t>
            </a:r>
            <a:r>
              <a:rPr lang="en-ID" dirty="0"/>
              <a:t> </a:t>
            </a:r>
            <a:r>
              <a:rPr lang="en-ID" dirty="0" err="1"/>
              <a:t>bisa</a:t>
            </a:r>
            <a:r>
              <a:rPr lang="en-ID" dirty="0"/>
              <a:t> </a:t>
            </a:r>
            <a:r>
              <a:rPr lang="en-ID" dirty="0" err="1"/>
              <a:t>melihat</a:t>
            </a:r>
            <a:r>
              <a:rPr lang="en-ID" dirty="0"/>
              <a:t> menu dan </a:t>
            </a:r>
            <a:r>
              <a:rPr lang="en-ID" dirty="0" err="1"/>
              <a:t>memilih</a:t>
            </a:r>
            <a:r>
              <a:rPr lang="en-ID" dirty="0"/>
              <a:t> </a:t>
            </a:r>
            <a:r>
              <a:rPr lang="en-ID" dirty="0" err="1"/>
              <a:t>makanan</a:t>
            </a:r>
            <a:r>
              <a:rPr lang="en-ID" dirty="0"/>
              <a:t>, </a:t>
            </a:r>
            <a:r>
              <a:rPr lang="en-ID" dirty="0" err="1"/>
              <a:t>tetapi</a:t>
            </a:r>
            <a:r>
              <a:rPr lang="en-ID" dirty="0"/>
              <a:t> </a:t>
            </a:r>
            <a:r>
              <a:rPr lang="en-ID" dirty="0" err="1"/>
              <a:t>dia</a:t>
            </a:r>
            <a:r>
              <a:rPr lang="en-ID" dirty="0"/>
              <a:t>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tahu</a:t>
            </a:r>
            <a:r>
              <a:rPr lang="en-ID" dirty="0"/>
              <a:t> </a:t>
            </a:r>
            <a:r>
              <a:rPr lang="en-ID" dirty="0" err="1"/>
              <a:t>bagaimana</a:t>
            </a:r>
            <a:r>
              <a:rPr lang="en-ID" dirty="0"/>
              <a:t> </a:t>
            </a:r>
            <a:r>
              <a:rPr lang="en-ID" dirty="0" err="1"/>
              <a:t>cara</a:t>
            </a:r>
            <a:r>
              <a:rPr lang="en-ID" dirty="0"/>
              <a:t> </a:t>
            </a:r>
            <a:r>
              <a:rPr lang="en-ID" dirty="0" err="1"/>
              <a:t>memasaknya</a:t>
            </a:r>
            <a:r>
              <a:rPr lang="en-ID" dirty="0"/>
              <a:t>.</a:t>
            </a:r>
          </a:p>
          <a:p>
            <a:r>
              <a:rPr lang="en-ID" dirty="0"/>
              <a:t>Backend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dirty="0" err="1"/>
              <a:t>dapurnya</a:t>
            </a:r>
            <a:r>
              <a:rPr lang="en-ID" dirty="0"/>
              <a:t>. Di </a:t>
            </a:r>
            <a:r>
              <a:rPr lang="en-ID" dirty="0" err="1"/>
              <a:t>dapur</a:t>
            </a:r>
            <a:r>
              <a:rPr lang="en-ID" dirty="0"/>
              <a:t> </a:t>
            </a:r>
            <a:r>
              <a:rPr lang="en-ID" dirty="0" err="1"/>
              <a:t>ada</a:t>
            </a:r>
            <a:r>
              <a:rPr lang="en-ID" dirty="0"/>
              <a:t> </a:t>
            </a:r>
            <a:r>
              <a:rPr lang="en-ID" dirty="0" err="1"/>
              <a:t>koki</a:t>
            </a:r>
            <a:r>
              <a:rPr lang="en-ID" dirty="0"/>
              <a:t>, </a:t>
            </a:r>
            <a:r>
              <a:rPr lang="en-ID" dirty="0" err="1"/>
              <a:t>bahan</a:t>
            </a:r>
            <a:r>
              <a:rPr lang="en-ID" dirty="0"/>
              <a:t> </a:t>
            </a:r>
            <a:r>
              <a:rPr lang="en-ID" dirty="0" err="1"/>
              <a:t>makanan</a:t>
            </a:r>
            <a:r>
              <a:rPr lang="en-ID" dirty="0"/>
              <a:t>, </a:t>
            </a:r>
            <a:r>
              <a:rPr lang="en-ID" dirty="0" err="1"/>
              <a:t>resep</a:t>
            </a:r>
            <a:r>
              <a:rPr lang="en-ID" dirty="0"/>
              <a:t>, dan proses </a:t>
            </a:r>
            <a:r>
              <a:rPr lang="en-ID" dirty="0" err="1"/>
              <a:t>memasak</a:t>
            </a:r>
            <a:r>
              <a:rPr lang="en-ID" dirty="0"/>
              <a:t>. </a:t>
            </a:r>
            <a:r>
              <a:rPr lang="en-ID" dirty="0" err="1"/>
              <a:t>Semua</a:t>
            </a:r>
            <a:r>
              <a:rPr lang="en-ID" dirty="0"/>
              <a:t> proses </a:t>
            </a:r>
            <a:r>
              <a:rPr lang="en-ID" dirty="0" err="1"/>
              <a:t>utama</a:t>
            </a:r>
            <a:r>
              <a:rPr lang="en-ID" dirty="0"/>
              <a:t> </a:t>
            </a:r>
            <a:r>
              <a:rPr lang="en-ID" dirty="0" err="1"/>
              <a:t>terjadi</a:t>
            </a:r>
            <a:r>
              <a:rPr lang="en-ID" dirty="0"/>
              <a:t> di </a:t>
            </a:r>
            <a:r>
              <a:rPr lang="en-ID" dirty="0" err="1"/>
              <a:t>sana</a:t>
            </a:r>
            <a:r>
              <a:rPr lang="en-ID" dirty="0"/>
              <a:t>.</a:t>
            </a:r>
          </a:p>
          <a:p>
            <a:r>
              <a:rPr lang="en-ID" dirty="0"/>
              <a:t>Lalu di mana </a:t>
            </a:r>
            <a:r>
              <a:rPr lang="en-ID" dirty="0" err="1"/>
              <a:t>posisi</a:t>
            </a:r>
            <a:r>
              <a:rPr lang="en-ID" dirty="0"/>
              <a:t> API?</a:t>
            </a:r>
          </a:p>
          <a:p>
            <a:r>
              <a:rPr lang="en-ID" dirty="0"/>
              <a:t>API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dirty="0" err="1"/>
              <a:t>pelayannya</a:t>
            </a:r>
            <a:r>
              <a:rPr lang="en-ID" dirty="0"/>
              <a:t>.</a:t>
            </a:r>
          </a:p>
          <a:p>
            <a:r>
              <a:rPr lang="en-ID" dirty="0"/>
              <a:t>Ketika </a:t>
            </a:r>
            <a:r>
              <a:rPr lang="en-ID" dirty="0" err="1"/>
              <a:t>pelanggan</a:t>
            </a:r>
            <a:r>
              <a:rPr lang="en-ID" dirty="0"/>
              <a:t> </a:t>
            </a:r>
            <a:r>
              <a:rPr lang="en-ID" dirty="0" err="1"/>
              <a:t>memesan</a:t>
            </a:r>
            <a:r>
              <a:rPr lang="en-ID" dirty="0"/>
              <a:t> </a:t>
            </a:r>
            <a:r>
              <a:rPr lang="en-ID" dirty="0" err="1"/>
              <a:t>makanan</a:t>
            </a:r>
            <a:r>
              <a:rPr lang="en-ID" dirty="0"/>
              <a:t>, </a:t>
            </a:r>
            <a:r>
              <a:rPr lang="en-ID" dirty="0" err="1"/>
              <a:t>dia</a:t>
            </a:r>
            <a:r>
              <a:rPr lang="en-ID" dirty="0"/>
              <a:t>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langsung</a:t>
            </a:r>
            <a:r>
              <a:rPr lang="en-ID" dirty="0"/>
              <a:t> </a:t>
            </a:r>
            <a:r>
              <a:rPr lang="en-ID" dirty="0" err="1"/>
              <a:t>masuk</a:t>
            </a:r>
            <a:r>
              <a:rPr lang="en-ID" dirty="0"/>
              <a:t> </a:t>
            </a:r>
            <a:r>
              <a:rPr lang="en-ID" dirty="0" err="1"/>
              <a:t>ke</a:t>
            </a:r>
            <a:r>
              <a:rPr lang="en-ID" dirty="0"/>
              <a:t> </a:t>
            </a:r>
            <a:r>
              <a:rPr lang="en-ID" dirty="0" err="1"/>
              <a:t>dapur</a:t>
            </a:r>
            <a:r>
              <a:rPr lang="en-ID" dirty="0"/>
              <a:t>. </a:t>
            </a:r>
            <a:r>
              <a:rPr lang="en-ID" dirty="0" err="1"/>
              <a:t>Dia</a:t>
            </a:r>
            <a:r>
              <a:rPr lang="en-ID" dirty="0"/>
              <a:t> </a:t>
            </a:r>
            <a:r>
              <a:rPr lang="en-ID" dirty="0" err="1"/>
              <a:t>menyampaikan</a:t>
            </a:r>
            <a:r>
              <a:rPr lang="en-ID" dirty="0"/>
              <a:t> </a:t>
            </a:r>
            <a:r>
              <a:rPr lang="en-ID" dirty="0" err="1"/>
              <a:t>pesanannya</a:t>
            </a:r>
            <a:r>
              <a:rPr lang="en-ID" dirty="0"/>
              <a:t> </a:t>
            </a:r>
            <a:r>
              <a:rPr lang="en-ID" dirty="0" err="1"/>
              <a:t>kepada</a:t>
            </a:r>
            <a:r>
              <a:rPr lang="en-ID" dirty="0"/>
              <a:t> </a:t>
            </a:r>
            <a:r>
              <a:rPr lang="en-ID" dirty="0" err="1"/>
              <a:t>pelayan</a:t>
            </a:r>
            <a:r>
              <a:rPr lang="en-ID" dirty="0"/>
              <a:t>. </a:t>
            </a:r>
            <a:r>
              <a:rPr lang="en-ID" dirty="0" err="1"/>
              <a:t>Pelayan</a:t>
            </a:r>
            <a:r>
              <a:rPr lang="en-ID" dirty="0"/>
              <a:t> </a:t>
            </a:r>
            <a:r>
              <a:rPr lang="en-ID" dirty="0" err="1"/>
              <a:t>mencatat</a:t>
            </a:r>
            <a:r>
              <a:rPr lang="en-ID" dirty="0"/>
              <a:t> </a:t>
            </a:r>
            <a:r>
              <a:rPr lang="en-ID" dirty="0" err="1"/>
              <a:t>pesanan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format yang </a:t>
            </a:r>
            <a:r>
              <a:rPr lang="en-ID" dirty="0" err="1"/>
              <a:t>jelas</a:t>
            </a:r>
            <a:r>
              <a:rPr lang="en-ID" dirty="0"/>
              <a:t>, </a:t>
            </a:r>
            <a:r>
              <a:rPr lang="en-ID" dirty="0" err="1"/>
              <a:t>lalu</a:t>
            </a:r>
            <a:r>
              <a:rPr lang="en-ID" dirty="0"/>
              <a:t> </a:t>
            </a:r>
            <a:r>
              <a:rPr lang="en-ID" dirty="0" err="1"/>
              <a:t>menyampaikannya</a:t>
            </a:r>
            <a:r>
              <a:rPr lang="en-ID" dirty="0"/>
              <a:t> </a:t>
            </a:r>
            <a:r>
              <a:rPr lang="en-ID" dirty="0" err="1"/>
              <a:t>ke</a:t>
            </a:r>
            <a:r>
              <a:rPr lang="en-ID" dirty="0"/>
              <a:t> </a:t>
            </a:r>
            <a:r>
              <a:rPr lang="en-ID" dirty="0" err="1"/>
              <a:t>dapur</a:t>
            </a:r>
            <a:r>
              <a:rPr lang="en-ID" dirty="0"/>
              <a:t> </a:t>
            </a:r>
            <a:r>
              <a:rPr lang="en-ID" dirty="0" err="1"/>
              <a:t>sesuai</a:t>
            </a:r>
            <a:r>
              <a:rPr lang="en-ID" dirty="0"/>
              <a:t> </a:t>
            </a:r>
            <a:r>
              <a:rPr lang="en-ID" dirty="0" err="1"/>
              <a:t>prosedur</a:t>
            </a:r>
            <a:r>
              <a:rPr lang="en-ID" dirty="0"/>
              <a:t>. </a:t>
            </a:r>
            <a:r>
              <a:rPr lang="en-ID" dirty="0" err="1"/>
              <a:t>Setelah</a:t>
            </a:r>
            <a:r>
              <a:rPr lang="en-ID" dirty="0"/>
              <a:t> </a:t>
            </a:r>
            <a:r>
              <a:rPr lang="en-ID" dirty="0" err="1"/>
              <a:t>makanan</a:t>
            </a:r>
            <a:r>
              <a:rPr lang="en-ID" dirty="0"/>
              <a:t> </a:t>
            </a:r>
            <a:r>
              <a:rPr lang="en-ID" dirty="0" err="1"/>
              <a:t>selesai</a:t>
            </a:r>
            <a:r>
              <a:rPr lang="en-ID" dirty="0"/>
              <a:t> </a:t>
            </a:r>
            <a:r>
              <a:rPr lang="en-ID" dirty="0" err="1"/>
              <a:t>dimasak</a:t>
            </a:r>
            <a:r>
              <a:rPr lang="en-ID" dirty="0"/>
              <a:t>, </a:t>
            </a:r>
            <a:r>
              <a:rPr lang="en-ID" dirty="0" err="1"/>
              <a:t>pelayan</a:t>
            </a:r>
            <a:r>
              <a:rPr lang="en-ID" dirty="0"/>
              <a:t> </a:t>
            </a:r>
            <a:r>
              <a:rPr lang="en-ID" dirty="0" err="1"/>
              <a:t>mengambil</a:t>
            </a:r>
            <a:r>
              <a:rPr lang="en-ID" dirty="0"/>
              <a:t> </a:t>
            </a:r>
            <a:r>
              <a:rPr lang="en-ID" dirty="0" err="1"/>
              <a:t>hasilnya</a:t>
            </a:r>
            <a:r>
              <a:rPr lang="en-ID" dirty="0"/>
              <a:t> dan </a:t>
            </a:r>
            <a:r>
              <a:rPr lang="en-ID" dirty="0" err="1"/>
              <a:t>mengantarkannya</a:t>
            </a:r>
            <a:r>
              <a:rPr lang="en-ID" dirty="0"/>
              <a:t> </a:t>
            </a:r>
            <a:r>
              <a:rPr lang="en-ID" dirty="0" err="1"/>
              <a:t>kembali</a:t>
            </a:r>
            <a:r>
              <a:rPr lang="en-ID" dirty="0"/>
              <a:t> </a:t>
            </a:r>
            <a:r>
              <a:rPr lang="en-ID" dirty="0" err="1"/>
              <a:t>ke</a:t>
            </a:r>
            <a:r>
              <a:rPr lang="en-ID" dirty="0"/>
              <a:t> </a:t>
            </a:r>
            <a:r>
              <a:rPr lang="en-ID" dirty="0" err="1"/>
              <a:t>pelanggan</a:t>
            </a:r>
            <a:r>
              <a:rPr lang="en-ID" dirty="0"/>
              <a:t>.</a:t>
            </a:r>
          </a:p>
          <a:p>
            <a:r>
              <a:rPr lang="en-ID" dirty="0"/>
              <a:t>Jadi </a:t>
            </a:r>
            <a:r>
              <a:rPr lang="en-ID" dirty="0" err="1"/>
              <a:t>alurnya</a:t>
            </a:r>
            <a:r>
              <a:rPr lang="en-ID" dirty="0"/>
              <a:t> </a:t>
            </a:r>
            <a:r>
              <a:rPr lang="en-ID" dirty="0" err="1"/>
              <a:t>seperti</a:t>
            </a:r>
            <a:r>
              <a:rPr lang="en-ID" dirty="0"/>
              <a:t> </a:t>
            </a:r>
            <a:r>
              <a:rPr lang="en-ID" dirty="0" err="1"/>
              <a:t>ini</a:t>
            </a:r>
            <a:r>
              <a:rPr lang="en-ID" dirty="0"/>
              <a:t>:</a:t>
            </a:r>
            <a:br>
              <a:rPr lang="en-ID" dirty="0"/>
            </a:br>
            <a:r>
              <a:rPr lang="en-ID" dirty="0"/>
              <a:t>Frontend (</a:t>
            </a:r>
            <a:r>
              <a:rPr lang="en-ID" dirty="0" err="1"/>
              <a:t>pelanggan</a:t>
            </a:r>
            <a:r>
              <a:rPr lang="en-ID" dirty="0"/>
              <a:t>) → API (</a:t>
            </a:r>
            <a:r>
              <a:rPr lang="en-ID" dirty="0" err="1"/>
              <a:t>pelayan</a:t>
            </a:r>
            <a:r>
              <a:rPr lang="en-ID" dirty="0"/>
              <a:t>) → Backend (</a:t>
            </a:r>
            <a:r>
              <a:rPr lang="en-ID" dirty="0" err="1"/>
              <a:t>dapur</a:t>
            </a:r>
            <a:r>
              <a:rPr lang="en-ID" dirty="0"/>
              <a:t>) → API (</a:t>
            </a:r>
            <a:r>
              <a:rPr lang="en-ID" dirty="0" err="1"/>
              <a:t>pelayan</a:t>
            </a:r>
            <a:r>
              <a:rPr lang="en-ID" dirty="0"/>
              <a:t>) → Frontend (</a:t>
            </a:r>
            <a:r>
              <a:rPr lang="en-ID" dirty="0" err="1"/>
              <a:t>Pelanggan</a:t>
            </a:r>
            <a:r>
              <a:rPr lang="en-ID" dirty="0"/>
              <a:t>).</a:t>
            </a:r>
          </a:p>
          <a:p>
            <a:r>
              <a:rPr lang="en-ID" dirty="0" err="1"/>
              <a:t>Tanpa</a:t>
            </a:r>
            <a:r>
              <a:rPr lang="en-ID" dirty="0"/>
              <a:t> API, </a:t>
            </a:r>
            <a:r>
              <a:rPr lang="en-ID" dirty="0" err="1"/>
              <a:t>pelanggan</a:t>
            </a:r>
            <a:r>
              <a:rPr lang="en-ID" dirty="0"/>
              <a:t>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tahu</a:t>
            </a:r>
            <a:r>
              <a:rPr lang="en-ID" dirty="0"/>
              <a:t> </a:t>
            </a:r>
            <a:r>
              <a:rPr lang="en-ID" dirty="0" err="1"/>
              <a:t>bagaimana</a:t>
            </a:r>
            <a:r>
              <a:rPr lang="en-ID" dirty="0"/>
              <a:t> </a:t>
            </a:r>
            <a:r>
              <a:rPr lang="en-ID" dirty="0" err="1"/>
              <a:t>cara</a:t>
            </a:r>
            <a:r>
              <a:rPr lang="en-ID" dirty="0"/>
              <a:t> </a:t>
            </a:r>
            <a:r>
              <a:rPr lang="en-ID" dirty="0" err="1"/>
              <a:t>berkomunikasi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dapur</a:t>
            </a:r>
            <a:r>
              <a:rPr lang="en-ID" dirty="0"/>
              <a:t>.</a:t>
            </a:r>
            <a:br>
              <a:rPr lang="en-ID" dirty="0"/>
            </a:br>
            <a:r>
              <a:rPr lang="en-ID" dirty="0" err="1"/>
              <a:t>Tanpa</a:t>
            </a:r>
            <a:r>
              <a:rPr lang="en-ID" dirty="0"/>
              <a:t> backend,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ada</a:t>
            </a:r>
            <a:r>
              <a:rPr lang="en-ID" dirty="0"/>
              <a:t> yang </a:t>
            </a:r>
            <a:r>
              <a:rPr lang="en-ID" dirty="0" err="1"/>
              <a:t>bisa</a:t>
            </a:r>
            <a:r>
              <a:rPr lang="en-ID" dirty="0"/>
              <a:t> </a:t>
            </a:r>
            <a:r>
              <a:rPr lang="en-ID" dirty="0" err="1"/>
              <a:t>dimasak</a:t>
            </a:r>
            <a:r>
              <a:rPr lang="en-ID" dirty="0"/>
              <a:t>.</a:t>
            </a:r>
            <a:br>
              <a:rPr lang="en-ID" dirty="0"/>
            </a:br>
            <a:r>
              <a:rPr lang="en-ID" dirty="0"/>
              <a:t>Dan </a:t>
            </a:r>
            <a:r>
              <a:rPr lang="en-ID" dirty="0" err="1"/>
              <a:t>tanpa</a:t>
            </a:r>
            <a:r>
              <a:rPr lang="en-ID" dirty="0"/>
              <a:t> frontend,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ada</a:t>
            </a:r>
            <a:r>
              <a:rPr lang="en-ID" dirty="0"/>
              <a:t> yang </a:t>
            </a:r>
            <a:r>
              <a:rPr lang="en-ID" dirty="0" err="1"/>
              <a:t>melakukan</a:t>
            </a:r>
            <a:r>
              <a:rPr lang="en-ID" dirty="0"/>
              <a:t> </a:t>
            </a:r>
            <a:r>
              <a:rPr lang="en-ID" dirty="0" err="1"/>
              <a:t>permintaan</a:t>
            </a:r>
            <a:r>
              <a:rPr lang="en-ID" dirty="0"/>
              <a:t>.</a:t>
            </a:r>
          </a:p>
          <a:p>
            <a:r>
              <a:rPr lang="en-ID" dirty="0" err="1"/>
              <a:t>Semuanya</a:t>
            </a:r>
            <a:r>
              <a:rPr lang="en-ID" dirty="0"/>
              <a:t> </a:t>
            </a:r>
            <a:r>
              <a:rPr lang="en-ID" dirty="0" err="1"/>
              <a:t>memiliki</a:t>
            </a:r>
            <a:r>
              <a:rPr lang="en-ID" dirty="0"/>
              <a:t> </a:t>
            </a:r>
            <a:r>
              <a:rPr lang="en-ID" dirty="0" err="1"/>
              <a:t>peran</a:t>
            </a:r>
            <a:r>
              <a:rPr lang="en-ID" dirty="0"/>
              <a:t> masing-masing dan </a:t>
            </a:r>
            <a:r>
              <a:rPr lang="en-ID" dirty="0" err="1"/>
              <a:t>saling</a:t>
            </a:r>
            <a:r>
              <a:rPr lang="en-ID" dirty="0"/>
              <a:t> </a:t>
            </a:r>
            <a:r>
              <a:rPr lang="en-ID" dirty="0" err="1"/>
              <a:t>bergantung</a:t>
            </a:r>
            <a:r>
              <a:rPr lang="en-ID" dirty="0"/>
              <a:t>.</a:t>
            </a:r>
          </a:p>
          <a:p>
            <a:endParaRPr lang="en-ID" dirty="0"/>
          </a:p>
          <a:p>
            <a:r>
              <a:rPr lang="en-ID" dirty="0"/>
              <a:t>Di dunia </a:t>
            </a:r>
            <a:r>
              <a:rPr lang="en-ID" dirty="0" err="1"/>
              <a:t>kerja</a:t>
            </a:r>
            <a:r>
              <a:rPr lang="en-ID" dirty="0"/>
              <a:t> </a:t>
            </a:r>
            <a:r>
              <a:rPr lang="en-ID" dirty="0" err="1"/>
              <a:t>saat</a:t>
            </a:r>
            <a:r>
              <a:rPr lang="en-ID" dirty="0"/>
              <a:t> </a:t>
            </a:r>
            <a:r>
              <a:rPr lang="en-ID" dirty="0" err="1"/>
              <a:t>ini</a:t>
            </a:r>
            <a:r>
              <a:rPr lang="en-ID" dirty="0"/>
              <a:t>, sangat </a:t>
            </a:r>
            <a:r>
              <a:rPr lang="en-ID" dirty="0" err="1"/>
              <a:t>jarang</a:t>
            </a:r>
            <a:r>
              <a:rPr lang="en-ID" dirty="0"/>
              <a:t> </a:t>
            </a:r>
            <a:r>
              <a:rPr lang="en-ID" dirty="0" err="1"/>
              <a:t>ada</a:t>
            </a:r>
            <a:r>
              <a:rPr lang="en-ID" dirty="0"/>
              <a:t> </a:t>
            </a:r>
            <a:r>
              <a:rPr lang="en-ID" dirty="0" err="1"/>
              <a:t>aplikasi</a:t>
            </a:r>
            <a:r>
              <a:rPr lang="en-ID" dirty="0"/>
              <a:t> yang </a:t>
            </a:r>
            <a:r>
              <a:rPr lang="en-ID" dirty="0" err="1"/>
              <a:t>berdiri</a:t>
            </a:r>
            <a:r>
              <a:rPr lang="en-ID" dirty="0"/>
              <a:t> </a:t>
            </a:r>
            <a:r>
              <a:rPr lang="en-ID" dirty="0" err="1"/>
              <a:t>sendiri</a:t>
            </a:r>
            <a:r>
              <a:rPr lang="en-ID" dirty="0"/>
              <a:t>. Sebagian </a:t>
            </a:r>
            <a:r>
              <a:rPr lang="en-ID" dirty="0" err="1"/>
              <a:t>besar</a:t>
            </a:r>
            <a:r>
              <a:rPr lang="en-ID" dirty="0"/>
              <a:t> </a:t>
            </a:r>
            <a:r>
              <a:rPr lang="en-ID" dirty="0" err="1"/>
              <a:t>sistem</a:t>
            </a:r>
            <a:r>
              <a:rPr lang="en-ID" dirty="0"/>
              <a:t> </a:t>
            </a:r>
            <a:r>
              <a:rPr lang="en-ID" dirty="0" err="1"/>
              <a:t>sudah</a:t>
            </a:r>
            <a:r>
              <a:rPr lang="en-ID" dirty="0"/>
              <a:t> </a:t>
            </a:r>
            <a:r>
              <a:rPr lang="en-ID" dirty="0" err="1"/>
              <a:t>terintegrasi</a:t>
            </a:r>
            <a:r>
              <a:rPr lang="en-ID" dirty="0"/>
              <a:t>. Backend </a:t>
            </a:r>
            <a:r>
              <a:rPr lang="en-ID" dirty="0" err="1"/>
              <a:t>bisa</a:t>
            </a:r>
            <a:r>
              <a:rPr lang="en-ID" dirty="0"/>
              <a:t> </a:t>
            </a:r>
            <a:r>
              <a:rPr lang="en-ID" dirty="0" err="1"/>
              <a:t>dibuat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python, frontend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php</a:t>
            </a:r>
            <a:r>
              <a:rPr lang="en-ID" dirty="0"/>
              <a:t>, mobile </a:t>
            </a:r>
            <a:r>
              <a:rPr lang="en-ID" dirty="0" err="1"/>
              <a:t>dengan</a:t>
            </a:r>
            <a:r>
              <a:rPr lang="en-ID" dirty="0"/>
              <a:t> Kotlin </a:t>
            </a:r>
            <a:r>
              <a:rPr lang="en-ID" dirty="0" err="1"/>
              <a:t>atau</a:t>
            </a:r>
            <a:r>
              <a:rPr lang="en-ID" dirty="0"/>
              <a:t> Swift, </a:t>
            </a:r>
            <a:r>
              <a:rPr lang="en-ID" dirty="0" err="1"/>
              <a:t>jadi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adanya</a:t>
            </a:r>
            <a:r>
              <a:rPr lang="en-ID" dirty="0"/>
              <a:t> web service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bergantung</a:t>
            </a:r>
            <a:r>
              <a:rPr lang="en-ID" dirty="0"/>
              <a:t> pada Bahasa </a:t>
            </a:r>
            <a:r>
              <a:rPr lang="en-ID" dirty="0" err="1"/>
              <a:t>pemrograman</a:t>
            </a:r>
            <a:r>
              <a:rPr lang="en-ID" dirty="0"/>
              <a:t> yang </a:t>
            </a:r>
            <a:r>
              <a:rPr lang="en-ID" dirty="0" err="1"/>
              <a:t>sama</a:t>
            </a:r>
            <a:r>
              <a:rPr lang="en-ID" dirty="0"/>
              <a:t>. </a:t>
            </a:r>
            <a:r>
              <a:rPr lang="en-ID" dirty="0" err="1"/>
              <a:t>Semua</a:t>
            </a:r>
            <a:r>
              <a:rPr lang="en-ID" dirty="0"/>
              <a:t> </a:t>
            </a:r>
            <a:r>
              <a:rPr lang="en-ID" dirty="0" err="1"/>
              <a:t>itu</a:t>
            </a:r>
            <a:r>
              <a:rPr lang="en-ID" dirty="0"/>
              <a:t> </a:t>
            </a:r>
            <a:r>
              <a:rPr lang="en-ID" dirty="0" err="1"/>
              <a:t>tetap</a:t>
            </a:r>
            <a:r>
              <a:rPr lang="en-ID" dirty="0"/>
              <a:t> </a:t>
            </a:r>
            <a:r>
              <a:rPr lang="en-ID" dirty="0" err="1"/>
              <a:t>bisa</a:t>
            </a:r>
            <a:r>
              <a:rPr lang="en-ID" dirty="0"/>
              <a:t> </a:t>
            </a:r>
            <a:r>
              <a:rPr lang="en-ID" dirty="0" err="1"/>
              <a:t>saling</a:t>
            </a:r>
            <a:r>
              <a:rPr lang="en-ID" dirty="0"/>
              <a:t> </a:t>
            </a:r>
            <a:r>
              <a:rPr lang="en-ID" dirty="0" err="1"/>
              <a:t>terhubung</a:t>
            </a:r>
            <a:r>
              <a:rPr lang="en-ID" dirty="0"/>
              <a:t> </a:t>
            </a:r>
            <a:r>
              <a:rPr lang="en-ID" dirty="0" err="1"/>
              <a:t>karena</a:t>
            </a:r>
            <a:r>
              <a:rPr lang="en-ID" dirty="0"/>
              <a:t> </a:t>
            </a:r>
            <a:r>
              <a:rPr lang="en-ID" dirty="0" err="1"/>
              <a:t>adanya</a:t>
            </a:r>
            <a:r>
              <a:rPr lang="en-ID" dirty="0"/>
              <a:t> API.</a:t>
            </a:r>
          </a:p>
          <a:p>
            <a:endParaRPr lang="en-ID" dirty="0"/>
          </a:p>
          <a:p>
            <a:r>
              <a:rPr lang="en-ID" dirty="0" err="1"/>
              <a:t>Artinya</a:t>
            </a:r>
            <a:r>
              <a:rPr lang="en-ID" dirty="0"/>
              <a:t>, </a:t>
            </a:r>
            <a:r>
              <a:rPr lang="en-ID" dirty="0" err="1"/>
              <a:t>kemampuan</a:t>
            </a:r>
            <a:r>
              <a:rPr lang="en-ID" dirty="0"/>
              <a:t> </a:t>
            </a:r>
            <a:r>
              <a:rPr lang="en-ID" dirty="0" err="1"/>
              <a:t>memahami</a:t>
            </a:r>
            <a:r>
              <a:rPr lang="en-ID" dirty="0"/>
              <a:t> dan </a:t>
            </a:r>
            <a:r>
              <a:rPr lang="en-ID" dirty="0" err="1"/>
              <a:t>membangun</a:t>
            </a:r>
            <a:r>
              <a:rPr lang="en-ID" dirty="0"/>
              <a:t> Web Service </a:t>
            </a:r>
            <a:r>
              <a:rPr lang="en-ID" dirty="0" err="1"/>
              <a:t>bukan</a:t>
            </a:r>
            <a:r>
              <a:rPr lang="en-ID" dirty="0"/>
              <a:t> </a:t>
            </a:r>
            <a:r>
              <a:rPr lang="en-ID" dirty="0" err="1"/>
              <a:t>lagi</a:t>
            </a:r>
            <a:r>
              <a:rPr lang="en-ID" dirty="0"/>
              <a:t> </a:t>
            </a:r>
            <a:r>
              <a:rPr lang="en-ID" dirty="0" err="1"/>
              <a:t>nilai</a:t>
            </a:r>
            <a:r>
              <a:rPr lang="en-ID" dirty="0"/>
              <a:t> </a:t>
            </a:r>
            <a:r>
              <a:rPr lang="en-ID" dirty="0" err="1"/>
              <a:t>tambah</a:t>
            </a:r>
            <a:r>
              <a:rPr lang="en-ID" dirty="0"/>
              <a:t>, </a:t>
            </a:r>
            <a:r>
              <a:rPr lang="en-ID" dirty="0" err="1"/>
              <a:t>tetapi</a:t>
            </a:r>
            <a:r>
              <a:rPr lang="en-ID" dirty="0"/>
              <a:t> </a:t>
            </a:r>
            <a:r>
              <a:rPr lang="en-ID" dirty="0" err="1"/>
              <a:t>sudah</a:t>
            </a:r>
            <a:r>
              <a:rPr lang="en-ID" dirty="0"/>
              <a:t> </a:t>
            </a:r>
            <a:r>
              <a:rPr lang="en-ID" dirty="0" err="1"/>
              <a:t>menjadi</a:t>
            </a:r>
            <a:r>
              <a:rPr lang="en-ID" dirty="0"/>
              <a:t> </a:t>
            </a:r>
            <a:r>
              <a:rPr lang="en-ID" dirty="0" err="1"/>
              <a:t>kebutuhan</a:t>
            </a:r>
            <a:r>
              <a:rPr lang="en-ID" dirty="0"/>
              <a:t> </a:t>
            </a:r>
            <a:r>
              <a:rPr lang="en-ID" dirty="0" err="1"/>
              <a:t>dasar</a:t>
            </a:r>
            <a:r>
              <a:rPr lang="en-ID" dirty="0"/>
              <a:t> di </a:t>
            </a:r>
            <a:r>
              <a:rPr lang="en-ID" dirty="0" err="1"/>
              <a:t>industri</a:t>
            </a:r>
            <a:r>
              <a:rPr lang="en-ID" dirty="0"/>
              <a:t>.</a:t>
            </a:r>
          </a:p>
          <a:p>
            <a:r>
              <a:rPr lang="en-ID" dirty="0"/>
              <a:t>Perusahaan </a:t>
            </a:r>
            <a:r>
              <a:rPr lang="en-ID" dirty="0" err="1"/>
              <a:t>membutuhkan</a:t>
            </a:r>
            <a:r>
              <a:rPr lang="en-ID" dirty="0"/>
              <a:t> developer yang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hanya</a:t>
            </a:r>
            <a:r>
              <a:rPr lang="en-ID" dirty="0"/>
              <a:t> </a:t>
            </a:r>
            <a:r>
              <a:rPr lang="en-ID" dirty="0" err="1"/>
              <a:t>bisa</a:t>
            </a:r>
            <a:r>
              <a:rPr lang="en-ID" dirty="0"/>
              <a:t> </a:t>
            </a:r>
            <a:r>
              <a:rPr lang="en-ID" dirty="0" err="1"/>
              <a:t>membuat</a:t>
            </a:r>
            <a:r>
              <a:rPr lang="en-ID" dirty="0"/>
              <a:t> </a:t>
            </a:r>
            <a:r>
              <a:rPr lang="en-ID" dirty="0" err="1"/>
              <a:t>tampilan</a:t>
            </a:r>
            <a:r>
              <a:rPr lang="en-ID" dirty="0"/>
              <a:t>, </a:t>
            </a:r>
            <a:r>
              <a:rPr lang="en-ID" dirty="0" err="1"/>
              <a:t>tetapi</a:t>
            </a:r>
            <a:r>
              <a:rPr lang="en-ID" dirty="0"/>
              <a:t> juga </a:t>
            </a:r>
            <a:r>
              <a:rPr lang="en-ID" dirty="0" err="1"/>
              <a:t>memahami</a:t>
            </a:r>
            <a:r>
              <a:rPr lang="en-ID" dirty="0"/>
              <a:t> </a:t>
            </a:r>
            <a:r>
              <a:rPr lang="en-ID" dirty="0" err="1"/>
              <a:t>bagaimana</a:t>
            </a:r>
            <a:r>
              <a:rPr lang="en-ID" dirty="0"/>
              <a:t> </a:t>
            </a:r>
            <a:r>
              <a:rPr lang="en-ID" dirty="0" err="1"/>
              <a:t>sistem</a:t>
            </a:r>
            <a:r>
              <a:rPr lang="en-ID" dirty="0"/>
              <a:t> </a:t>
            </a:r>
            <a:r>
              <a:rPr lang="en-ID" dirty="0" err="1"/>
              <a:t>berkomunikasi</a:t>
            </a:r>
            <a:r>
              <a:rPr lang="en-ID" dirty="0"/>
              <a:t>, </a:t>
            </a:r>
            <a:r>
              <a:rPr lang="en-ID" dirty="0" err="1"/>
              <a:t>bagaimana</a:t>
            </a:r>
            <a:r>
              <a:rPr lang="en-ID" dirty="0"/>
              <a:t> data </a:t>
            </a:r>
            <a:r>
              <a:rPr lang="en-ID" dirty="0" err="1"/>
              <a:t>dikirim</a:t>
            </a:r>
            <a:r>
              <a:rPr lang="en-ID" dirty="0"/>
              <a:t> dan </a:t>
            </a:r>
            <a:r>
              <a:rPr lang="en-ID" dirty="0" err="1"/>
              <a:t>diterima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aman</a:t>
            </a:r>
            <a:r>
              <a:rPr lang="en-ID" dirty="0"/>
              <a:t>, </a:t>
            </a:r>
            <a:r>
              <a:rPr lang="en-ID" dirty="0" err="1"/>
              <a:t>bagaimana</a:t>
            </a:r>
            <a:r>
              <a:rPr lang="en-ID" dirty="0"/>
              <a:t> </a:t>
            </a:r>
            <a:r>
              <a:rPr lang="en-ID" dirty="0" err="1"/>
              <a:t>autentikasi</a:t>
            </a:r>
            <a:r>
              <a:rPr lang="en-ID" dirty="0"/>
              <a:t> </a:t>
            </a:r>
            <a:r>
              <a:rPr lang="en-ID" dirty="0" err="1"/>
              <a:t>bekerja</a:t>
            </a:r>
            <a:r>
              <a:rPr lang="en-ID" dirty="0"/>
              <a:t>, </a:t>
            </a:r>
            <a:r>
              <a:rPr lang="en-ID" dirty="0" err="1"/>
              <a:t>serta</a:t>
            </a:r>
            <a:r>
              <a:rPr lang="en-ID" dirty="0"/>
              <a:t> </a:t>
            </a:r>
            <a:r>
              <a:rPr lang="en-ID" dirty="0" err="1"/>
              <a:t>bagaimana</a:t>
            </a:r>
            <a:r>
              <a:rPr lang="en-ID" dirty="0"/>
              <a:t> </a:t>
            </a:r>
            <a:r>
              <a:rPr lang="en-ID" dirty="0" err="1"/>
              <a:t>sistem</a:t>
            </a:r>
            <a:r>
              <a:rPr lang="en-ID" dirty="0"/>
              <a:t>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diskalakan</a:t>
            </a:r>
            <a:r>
              <a:rPr lang="en-ID" dirty="0"/>
              <a:t>.</a:t>
            </a:r>
          </a:p>
          <a:p>
            <a:endParaRPr lang="en-ID" dirty="0"/>
          </a:p>
          <a:p>
            <a:r>
              <a:rPr lang="en-ID" dirty="0" err="1"/>
              <a:t>Melalui</a:t>
            </a:r>
            <a:r>
              <a:rPr lang="en-ID" dirty="0"/>
              <a:t> </a:t>
            </a:r>
            <a:r>
              <a:rPr lang="en-ID" dirty="0" err="1"/>
              <a:t>mata</a:t>
            </a:r>
            <a:r>
              <a:rPr lang="en-ID" dirty="0"/>
              <a:t> </a:t>
            </a:r>
            <a:r>
              <a:rPr lang="en-ID" dirty="0" err="1"/>
              <a:t>kuliah</a:t>
            </a:r>
            <a:r>
              <a:rPr lang="en-ID" dirty="0"/>
              <a:t> </a:t>
            </a:r>
            <a:r>
              <a:rPr lang="en-ID" dirty="0" err="1"/>
              <a:t>ini</a:t>
            </a:r>
            <a:r>
              <a:rPr lang="en-ID" dirty="0"/>
              <a:t>, kalian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hanya</a:t>
            </a:r>
            <a:r>
              <a:rPr lang="en-ID" dirty="0"/>
              <a:t> </a:t>
            </a:r>
            <a:r>
              <a:rPr lang="en-ID" dirty="0" err="1"/>
              <a:t>belajar</a:t>
            </a:r>
            <a:r>
              <a:rPr lang="en-ID" dirty="0"/>
              <a:t> </a:t>
            </a:r>
            <a:r>
              <a:rPr lang="en-ID" dirty="0" err="1"/>
              <a:t>teori</a:t>
            </a:r>
            <a:r>
              <a:rPr lang="en-ID" dirty="0"/>
              <a:t>, </a:t>
            </a:r>
            <a:r>
              <a:rPr lang="en-ID" dirty="0" err="1"/>
              <a:t>tetapi</a:t>
            </a:r>
            <a:r>
              <a:rPr lang="en-ID" dirty="0"/>
              <a:t> </a:t>
            </a:r>
            <a:r>
              <a:rPr lang="en-ID" dirty="0" err="1"/>
              <a:t>akan</a:t>
            </a:r>
            <a:r>
              <a:rPr lang="en-ID" dirty="0"/>
              <a:t> </a:t>
            </a:r>
            <a:r>
              <a:rPr lang="en-ID" dirty="0" err="1"/>
              <a:t>langsung</a:t>
            </a:r>
            <a:r>
              <a:rPr lang="en-ID" dirty="0"/>
              <a:t> </a:t>
            </a:r>
            <a:r>
              <a:rPr lang="en-ID" dirty="0" err="1"/>
              <a:t>mempraktikkan</a:t>
            </a:r>
            <a:r>
              <a:rPr lang="en-ID" dirty="0"/>
              <a:t> </a:t>
            </a:r>
            <a:r>
              <a:rPr lang="en-ID" dirty="0" err="1"/>
              <a:t>bagaimana</a:t>
            </a:r>
            <a:r>
              <a:rPr lang="en-ID" dirty="0"/>
              <a:t> </a:t>
            </a:r>
            <a:r>
              <a:rPr lang="en-ID" dirty="0" err="1"/>
              <a:t>merancang</a:t>
            </a:r>
            <a:r>
              <a:rPr lang="en-ID" dirty="0"/>
              <a:t> API yang </a:t>
            </a:r>
            <a:r>
              <a:rPr lang="en-ID" dirty="0" err="1"/>
              <a:t>baik</a:t>
            </a:r>
            <a:r>
              <a:rPr lang="en-ID" dirty="0"/>
              <a:t>, </a:t>
            </a:r>
            <a:r>
              <a:rPr lang="en-ID" dirty="0" err="1"/>
              <a:t>membangun</a:t>
            </a:r>
            <a:r>
              <a:rPr lang="en-ID" dirty="0"/>
              <a:t> backend service, </a:t>
            </a:r>
            <a:r>
              <a:rPr lang="en-ID" dirty="0" err="1"/>
              <a:t>menghubungkannya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frontend, </a:t>
            </a:r>
            <a:r>
              <a:rPr lang="en-ID" dirty="0" err="1"/>
              <a:t>serta</a:t>
            </a:r>
            <a:r>
              <a:rPr lang="en-ID" dirty="0"/>
              <a:t> </a:t>
            </a:r>
            <a:r>
              <a:rPr lang="en-ID" dirty="0" err="1"/>
              <a:t>melakukan</a:t>
            </a:r>
            <a:r>
              <a:rPr lang="en-ID" dirty="0"/>
              <a:t> deployment </a:t>
            </a:r>
            <a:r>
              <a:rPr lang="en-ID" dirty="0" err="1"/>
              <a:t>seperti</a:t>
            </a:r>
            <a:r>
              <a:rPr lang="en-ID" dirty="0"/>
              <a:t> yang </a:t>
            </a:r>
            <a:r>
              <a:rPr lang="en-ID" dirty="0" err="1"/>
              <a:t>dilakukan</a:t>
            </a:r>
            <a:r>
              <a:rPr lang="en-ID" dirty="0"/>
              <a:t> di dunia </a:t>
            </a:r>
            <a:r>
              <a:rPr lang="en-ID" dirty="0" err="1"/>
              <a:t>profesional</a:t>
            </a:r>
            <a:r>
              <a:rPr lang="en-ID" dirty="0"/>
              <a:t>.</a:t>
            </a:r>
          </a:p>
          <a:p>
            <a:r>
              <a:rPr lang="en-ID" dirty="0" err="1"/>
              <a:t>Tujuannya</a:t>
            </a:r>
            <a:r>
              <a:rPr lang="en-ID" dirty="0"/>
              <a:t> </a:t>
            </a:r>
            <a:r>
              <a:rPr lang="en-ID" dirty="0" err="1"/>
              <a:t>jelas</a:t>
            </a:r>
            <a:r>
              <a:rPr lang="en-ID" dirty="0"/>
              <a:t>: </a:t>
            </a:r>
            <a:r>
              <a:rPr lang="en-ID" dirty="0" err="1"/>
              <a:t>ketika</a:t>
            </a:r>
            <a:r>
              <a:rPr lang="en-ID" dirty="0"/>
              <a:t> </a:t>
            </a:r>
            <a:r>
              <a:rPr lang="en-ID" dirty="0" err="1"/>
              <a:t>masuk</a:t>
            </a:r>
            <a:r>
              <a:rPr lang="en-ID" dirty="0"/>
              <a:t> dunia </a:t>
            </a:r>
            <a:r>
              <a:rPr lang="en-ID" dirty="0" err="1"/>
              <a:t>kerja</a:t>
            </a:r>
            <a:r>
              <a:rPr lang="en-ID" dirty="0"/>
              <a:t>, kalian </a:t>
            </a:r>
            <a:r>
              <a:rPr lang="en-ID" dirty="0" err="1"/>
              <a:t>sudah</a:t>
            </a:r>
            <a:r>
              <a:rPr lang="en-ID" dirty="0"/>
              <a:t> familiar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pola</a:t>
            </a:r>
            <a:r>
              <a:rPr lang="en-ID" dirty="0"/>
              <a:t> </a:t>
            </a:r>
            <a:r>
              <a:rPr lang="en-ID" dirty="0" err="1"/>
              <a:t>kerja</a:t>
            </a:r>
            <a:r>
              <a:rPr lang="en-ID" dirty="0"/>
              <a:t> yang </a:t>
            </a:r>
            <a:r>
              <a:rPr lang="en-ID" dirty="0" err="1"/>
              <a:t>memang</a:t>
            </a:r>
            <a:r>
              <a:rPr lang="en-ID" dirty="0"/>
              <a:t> </a:t>
            </a:r>
            <a:r>
              <a:rPr lang="en-ID" dirty="0" err="1"/>
              <a:t>digunakan</a:t>
            </a:r>
            <a:r>
              <a:rPr lang="en-ID" dirty="0"/>
              <a:t> di </a:t>
            </a:r>
            <a:r>
              <a:rPr lang="en-ID" dirty="0" err="1"/>
              <a:t>industri</a:t>
            </a:r>
            <a:r>
              <a:rPr lang="en-ID" dirty="0"/>
              <a:t> </a:t>
            </a:r>
            <a:r>
              <a:rPr lang="en-ID" dirty="0" err="1"/>
              <a:t>saat</a:t>
            </a:r>
            <a:r>
              <a:rPr lang="en-ID" dirty="0"/>
              <a:t> </a:t>
            </a:r>
            <a:r>
              <a:rPr lang="en-ID" dirty="0" err="1"/>
              <a:t>ini</a:t>
            </a:r>
            <a:r>
              <a:rPr lang="en-ID" dirty="0"/>
              <a:t>.</a:t>
            </a:r>
          </a:p>
          <a:p>
            <a:endParaRPr lang="en-ID" dirty="0"/>
          </a:p>
          <a:p>
            <a:r>
              <a:rPr lang="en-ID" dirty="0"/>
              <a:t>Jika kalian </a:t>
            </a:r>
            <a:r>
              <a:rPr lang="en-ID" dirty="0" err="1"/>
              <a:t>ingin</a:t>
            </a:r>
            <a:r>
              <a:rPr lang="en-ID" dirty="0"/>
              <a:t> </a:t>
            </a:r>
            <a:r>
              <a:rPr lang="en-ID" dirty="0" err="1"/>
              <a:t>bekerja</a:t>
            </a:r>
            <a:r>
              <a:rPr lang="en-ID" dirty="0"/>
              <a:t> </a:t>
            </a:r>
            <a:r>
              <a:rPr lang="en-ID" dirty="0" err="1"/>
              <a:t>sebagai</a:t>
            </a:r>
            <a:r>
              <a:rPr lang="en-ID" dirty="0"/>
              <a:t> backend developer, frontend developer, mobile developer, </a:t>
            </a:r>
            <a:r>
              <a:rPr lang="en-ID" dirty="0" err="1"/>
              <a:t>bahkan</a:t>
            </a:r>
            <a:r>
              <a:rPr lang="en-ID" dirty="0"/>
              <a:t> DevOps </a:t>
            </a:r>
            <a:r>
              <a:rPr lang="en-ID" dirty="0" err="1"/>
              <a:t>sekalipun</a:t>
            </a:r>
            <a:r>
              <a:rPr lang="en-ID" dirty="0"/>
              <a:t>, </a:t>
            </a:r>
            <a:r>
              <a:rPr lang="en-ID" dirty="0" err="1"/>
              <a:t>pemahaman</a:t>
            </a:r>
            <a:r>
              <a:rPr lang="en-ID" dirty="0"/>
              <a:t> </a:t>
            </a:r>
            <a:r>
              <a:rPr lang="en-ID" dirty="0" err="1"/>
              <a:t>tentang</a:t>
            </a:r>
            <a:r>
              <a:rPr lang="en-ID" dirty="0"/>
              <a:t> API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dirty="0" err="1"/>
              <a:t>fondasi</a:t>
            </a:r>
            <a:r>
              <a:rPr lang="en-ID" dirty="0"/>
              <a:t> yang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bisa</a:t>
            </a:r>
            <a:r>
              <a:rPr lang="en-ID" dirty="0"/>
              <a:t> </a:t>
            </a:r>
            <a:r>
              <a:rPr lang="en-ID" dirty="0" err="1"/>
              <a:t>dihindari</a:t>
            </a:r>
            <a:r>
              <a:rPr lang="en-ID" dirty="0"/>
              <a:t>. Dunia </a:t>
            </a:r>
            <a:r>
              <a:rPr lang="en-ID" dirty="0" err="1"/>
              <a:t>industri</a:t>
            </a:r>
            <a:r>
              <a:rPr lang="en-ID" dirty="0"/>
              <a:t> </a:t>
            </a:r>
            <a:r>
              <a:rPr lang="en-ID" dirty="0" err="1"/>
              <a:t>sudah</a:t>
            </a:r>
            <a:r>
              <a:rPr lang="en-ID" dirty="0"/>
              <a:t> </a:t>
            </a:r>
            <a:r>
              <a:rPr lang="en-ID" dirty="0" err="1"/>
              <a:t>bergerak</a:t>
            </a:r>
            <a:r>
              <a:rPr lang="en-ID" dirty="0"/>
              <a:t> </a:t>
            </a:r>
            <a:r>
              <a:rPr lang="en-ID" dirty="0" err="1"/>
              <a:t>ke</a:t>
            </a:r>
            <a:r>
              <a:rPr lang="en-ID" dirty="0"/>
              <a:t> </a:t>
            </a:r>
            <a:r>
              <a:rPr lang="en-ID" dirty="0" err="1"/>
              <a:t>arah</a:t>
            </a:r>
            <a:r>
              <a:rPr lang="en-ID" dirty="0"/>
              <a:t> </a:t>
            </a:r>
            <a:r>
              <a:rPr lang="en-ID" dirty="0" err="1"/>
              <a:t>sistem</a:t>
            </a:r>
            <a:r>
              <a:rPr lang="en-ID" dirty="0"/>
              <a:t> </a:t>
            </a:r>
            <a:r>
              <a:rPr lang="en-ID" dirty="0" err="1"/>
              <a:t>terintegrasi</a:t>
            </a:r>
            <a:r>
              <a:rPr lang="en-ID" dirty="0"/>
              <a:t>. Mata </a:t>
            </a:r>
            <a:r>
              <a:rPr lang="en-ID" dirty="0" err="1"/>
              <a:t>kuliah</a:t>
            </a:r>
            <a:r>
              <a:rPr lang="en-ID" dirty="0"/>
              <a:t>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dirty="0" err="1"/>
              <a:t>pintu</a:t>
            </a:r>
            <a:r>
              <a:rPr lang="en-ID" dirty="0"/>
              <a:t> </a:t>
            </a:r>
            <a:r>
              <a:rPr lang="en-ID" dirty="0" err="1"/>
              <a:t>masuk</a:t>
            </a:r>
            <a:r>
              <a:rPr lang="en-ID" dirty="0"/>
              <a:t> </a:t>
            </a:r>
            <a:r>
              <a:rPr lang="en-ID" dirty="0" err="1"/>
              <a:t>ke</a:t>
            </a:r>
            <a:r>
              <a:rPr lang="en-ID" dirty="0"/>
              <a:t> </a:t>
            </a:r>
            <a:r>
              <a:rPr lang="en-ID" dirty="0" err="1"/>
              <a:t>arah</a:t>
            </a:r>
            <a:r>
              <a:rPr lang="en-ID" dirty="0"/>
              <a:t> </a:t>
            </a:r>
            <a:r>
              <a:rPr lang="en-ID" dirty="0" err="1"/>
              <a:t>tersebut</a:t>
            </a:r>
            <a:r>
              <a:rPr lang="en-ID" dirty="0"/>
              <a:t>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D03F0E-4D61-4CDB-95CE-9F60B0A7D46F}" type="slidenum">
              <a:rPr lang="en-ID" smtClean="0"/>
              <a:t>3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9030702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477891-747C-7C94-0FDF-7F80BE385C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57962C-70E5-3383-E33E-95E5EA925B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C5D0F2-6B1A-2B08-22BC-DBC181FCBD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 dirty="0" err="1"/>
              <a:t>Berikut</a:t>
            </a:r>
            <a:r>
              <a:rPr lang="en-ID" dirty="0"/>
              <a:t> </a:t>
            </a:r>
            <a:r>
              <a:rPr lang="en-ID" dirty="0" err="1"/>
              <a:t>adalah</a:t>
            </a:r>
            <a:r>
              <a:rPr lang="en-ID" dirty="0"/>
              <a:t> proses yang </a:t>
            </a:r>
            <a:r>
              <a:rPr lang="en-ID" dirty="0" err="1"/>
              <a:t>sama</a:t>
            </a:r>
            <a:r>
              <a:rPr lang="en-ID" dirty="0"/>
              <a:t>, </a:t>
            </a:r>
            <a:r>
              <a:rPr lang="en-ID" dirty="0" err="1"/>
              <a:t>tetapi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b="1" dirty="0"/>
              <a:t>JSON</a:t>
            </a:r>
            <a:r>
              <a:rPr lang="en-ID" dirty="0"/>
              <a:t> </a:t>
            </a:r>
            <a:r>
              <a:rPr lang="en-ID" dirty="0" err="1"/>
              <a:t>sebagai</a:t>
            </a:r>
            <a:r>
              <a:rPr lang="en-ID" dirty="0"/>
              <a:t> format data:</a:t>
            </a:r>
          </a:p>
          <a:p>
            <a:pPr>
              <a:buFont typeface="+mj-lt"/>
              <a:buAutoNum type="arabicPeriod"/>
            </a:pPr>
            <a:r>
              <a:rPr lang="en-ID" b="1" dirty="0"/>
              <a:t>Client </a:t>
            </a:r>
            <a:r>
              <a:rPr lang="en-ID" b="1" dirty="0" err="1"/>
              <a:t>mengirim</a:t>
            </a:r>
            <a:r>
              <a:rPr lang="en-ID" b="1" dirty="0"/>
              <a:t> request </a:t>
            </a:r>
            <a:r>
              <a:rPr lang="en-ID" b="1" dirty="0" err="1"/>
              <a:t>ke</a:t>
            </a:r>
            <a:r>
              <a:rPr lang="en-ID" b="1" dirty="0"/>
              <a:t> server </a:t>
            </a:r>
            <a:r>
              <a:rPr lang="en-ID" b="1" dirty="0" err="1"/>
              <a:t>dalam</a:t>
            </a:r>
            <a:r>
              <a:rPr lang="en-ID" b="1" dirty="0"/>
              <a:t> format JSON</a:t>
            </a:r>
            <a:r>
              <a:rPr lang="en-ID" dirty="0"/>
              <a:t>, </a:t>
            </a:r>
            <a:r>
              <a:rPr lang="en-ID" dirty="0" err="1"/>
              <a:t>berisi</a:t>
            </a:r>
            <a:r>
              <a:rPr lang="en-ID" dirty="0"/>
              <a:t> </a:t>
            </a:r>
            <a:r>
              <a:rPr lang="en-ID" b="1" dirty="0"/>
              <a:t>email dan kata </a:t>
            </a:r>
            <a:r>
              <a:rPr lang="en-ID" b="1" dirty="0" err="1"/>
              <a:t>sandi</a:t>
            </a:r>
            <a:r>
              <a:rPr lang="en-ID" dirty="0"/>
              <a:t> </a:t>
            </a:r>
            <a:r>
              <a:rPr lang="en-ID" dirty="0" err="1"/>
              <a:t>melalui</a:t>
            </a:r>
            <a:r>
              <a:rPr lang="en-ID" dirty="0"/>
              <a:t> Web Service </a:t>
            </a:r>
            <a:r>
              <a:rPr lang="en-ID" dirty="0" err="1"/>
              <a:t>menggunakan</a:t>
            </a:r>
            <a:r>
              <a:rPr lang="en-ID" dirty="0"/>
              <a:t> </a:t>
            </a:r>
            <a:r>
              <a:rPr lang="en-ID" dirty="0" err="1"/>
              <a:t>metode</a:t>
            </a:r>
            <a:r>
              <a:rPr lang="en-ID" dirty="0"/>
              <a:t> </a:t>
            </a:r>
            <a:r>
              <a:rPr lang="en-ID" b="1" dirty="0"/>
              <a:t>POST</a:t>
            </a:r>
            <a:r>
              <a:rPr lang="en-ID" dirty="0"/>
              <a:t>.</a:t>
            </a:r>
          </a:p>
          <a:p>
            <a:pPr>
              <a:buFont typeface="+mj-lt"/>
              <a:buAutoNum type="arabicPeriod"/>
            </a:pPr>
            <a:r>
              <a:rPr lang="en-ID" b="1" dirty="0"/>
              <a:t>Web Service </a:t>
            </a:r>
            <a:r>
              <a:rPr lang="en-ID" b="1" dirty="0" err="1"/>
              <a:t>memeriksa</a:t>
            </a:r>
            <a:r>
              <a:rPr lang="en-ID" b="1" dirty="0"/>
              <a:t> </a:t>
            </a:r>
            <a:r>
              <a:rPr lang="en-ID" b="1" dirty="0" err="1"/>
              <a:t>validitas</a:t>
            </a:r>
            <a:r>
              <a:rPr lang="en-ID" b="1" dirty="0"/>
              <a:t> request JSON</a:t>
            </a:r>
            <a:r>
              <a:rPr lang="en-ID" dirty="0"/>
              <a:t> dan </a:t>
            </a:r>
            <a:r>
              <a:rPr lang="en-ID" dirty="0" err="1"/>
              <a:t>meneruskannya</a:t>
            </a:r>
            <a:r>
              <a:rPr lang="en-ID" dirty="0"/>
              <a:t> </a:t>
            </a:r>
            <a:r>
              <a:rPr lang="en-ID" dirty="0" err="1"/>
              <a:t>ke</a:t>
            </a:r>
            <a:r>
              <a:rPr lang="en-ID" dirty="0"/>
              <a:t> server.</a:t>
            </a:r>
          </a:p>
          <a:p>
            <a:pPr>
              <a:buFont typeface="+mj-lt"/>
              <a:buAutoNum type="arabicPeriod"/>
            </a:pPr>
            <a:r>
              <a:rPr lang="en-ID" b="1" dirty="0"/>
              <a:t>Server </a:t>
            </a:r>
            <a:r>
              <a:rPr lang="en-ID" b="1" dirty="0" err="1"/>
              <a:t>memproses</a:t>
            </a:r>
            <a:r>
              <a:rPr lang="en-ID" b="1" dirty="0"/>
              <a:t> request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mencocokkan</a:t>
            </a:r>
            <a:r>
              <a:rPr lang="en-ID" dirty="0"/>
              <a:t> email dan kata </a:t>
            </a:r>
            <a:r>
              <a:rPr lang="en-ID" dirty="0" err="1"/>
              <a:t>sandi</a:t>
            </a:r>
            <a:r>
              <a:rPr lang="en-ID" dirty="0"/>
              <a:t> di </a:t>
            </a:r>
            <a:r>
              <a:rPr lang="en-ID" b="1" dirty="0"/>
              <a:t>database.</a:t>
            </a:r>
            <a:r>
              <a:rPr lang="en-ID" dirty="0"/>
              <a:t>.</a:t>
            </a:r>
          </a:p>
          <a:p>
            <a:pPr>
              <a:buFont typeface="+mj-lt"/>
              <a:buAutoNum type="arabicPeriod"/>
            </a:pPr>
            <a:r>
              <a:rPr lang="en-ID" dirty="0"/>
              <a:t>Jika data valid, </a:t>
            </a:r>
            <a:r>
              <a:rPr lang="en-ID" b="1" dirty="0"/>
              <a:t>server </a:t>
            </a:r>
            <a:r>
              <a:rPr lang="en-ID" b="1" dirty="0" err="1"/>
              <a:t>mengirimkan</a:t>
            </a:r>
            <a:r>
              <a:rPr lang="en-ID" b="1" dirty="0"/>
              <a:t> </a:t>
            </a:r>
            <a:r>
              <a:rPr lang="en-ID" b="1" dirty="0" err="1"/>
              <a:t>respon</a:t>
            </a:r>
            <a:r>
              <a:rPr lang="en-ID" b="1" dirty="0"/>
              <a:t> JSON</a:t>
            </a:r>
            <a:r>
              <a:rPr lang="en-ID" dirty="0"/>
              <a:t> </a:t>
            </a:r>
            <a:r>
              <a:rPr lang="en-ID" dirty="0" err="1"/>
              <a:t>berisi</a:t>
            </a:r>
            <a:r>
              <a:rPr lang="en-ID" dirty="0"/>
              <a:t> </a:t>
            </a:r>
            <a:r>
              <a:rPr lang="en-ID" b="1" dirty="0"/>
              <a:t>{"status": true}</a:t>
            </a:r>
            <a:r>
              <a:rPr lang="en-ID" dirty="0"/>
              <a:t>. Jika data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ditemukan</a:t>
            </a:r>
            <a:r>
              <a:rPr lang="en-ID" dirty="0"/>
              <a:t>, server </a:t>
            </a:r>
            <a:r>
              <a:rPr lang="en-ID" dirty="0" err="1"/>
              <a:t>mengirimkan</a:t>
            </a:r>
            <a:r>
              <a:rPr lang="en-ID" dirty="0"/>
              <a:t> </a:t>
            </a:r>
            <a:r>
              <a:rPr lang="en-ID" b="1" dirty="0"/>
              <a:t>{"status": false}</a:t>
            </a:r>
            <a:r>
              <a:rPr lang="en-ID" dirty="0"/>
              <a:t>.</a:t>
            </a:r>
          </a:p>
          <a:p>
            <a:pPr>
              <a:buFont typeface="+mj-lt"/>
              <a:buAutoNum type="arabicPeriod"/>
            </a:pPr>
            <a:r>
              <a:rPr lang="en-ID" b="1" dirty="0"/>
              <a:t>Client </a:t>
            </a:r>
            <a:r>
              <a:rPr lang="en-ID" b="1" dirty="0" err="1"/>
              <a:t>membaca</a:t>
            </a:r>
            <a:r>
              <a:rPr lang="en-ID" b="1" dirty="0"/>
              <a:t> </a:t>
            </a:r>
            <a:r>
              <a:rPr lang="en-ID" b="1" dirty="0" err="1"/>
              <a:t>respon</a:t>
            </a:r>
            <a:r>
              <a:rPr lang="en-ID" b="1" dirty="0"/>
              <a:t> JSON</a:t>
            </a:r>
            <a:r>
              <a:rPr lang="en-ID" dirty="0"/>
              <a:t> dan </a:t>
            </a:r>
            <a:r>
              <a:rPr lang="en-ID" dirty="0" err="1"/>
              <a:t>menampilkan</a:t>
            </a:r>
            <a:r>
              <a:rPr lang="en-ID" dirty="0"/>
              <a:t> </a:t>
            </a:r>
            <a:r>
              <a:rPr lang="en-ID" dirty="0" err="1"/>
              <a:t>hasil</a:t>
            </a:r>
            <a:r>
              <a:rPr lang="en-ID" dirty="0"/>
              <a:t> login: 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D" dirty="0"/>
              <a:t>Jika </a:t>
            </a:r>
            <a:r>
              <a:rPr lang="en-ID" b="1" dirty="0"/>
              <a:t>{"status": true}</a:t>
            </a:r>
            <a:r>
              <a:rPr lang="en-ID" dirty="0"/>
              <a:t>, </a:t>
            </a:r>
            <a:r>
              <a:rPr lang="en-ID" dirty="0" err="1"/>
              <a:t>pengguna</a:t>
            </a:r>
            <a:r>
              <a:rPr lang="en-ID" dirty="0"/>
              <a:t> </a:t>
            </a:r>
            <a:r>
              <a:rPr lang="en-ID" dirty="0" err="1"/>
              <a:t>berhasil</a:t>
            </a:r>
            <a:r>
              <a:rPr lang="en-ID" dirty="0"/>
              <a:t> login.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D" dirty="0"/>
              <a:t>Jika </a:t>
            </a:r>
            <a:r>
              <a:rPr lang="en-ID" b="1" dirty="0"/>
              <a:t>{"status": false}</a:t>
            </a:r>
            <a:r>
              <a:rPr lang="en-ID" dirty="0"/>
              <a:t>, login </a:t>
            </a:r>
            <a:r>
              <a:rPr lang="en-ID" dirty="0" err="1"/>
              <a:t>gagal</a:t>
            </a:r>
            <a:r>
              <a:rPr lang="en-ID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668B2B-23E5-48C1-0D8D-F1A5C89441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D03F0E-4D61-4CDB-95CE-9F60B0A7D46F}" type="slidenum">
              <a:rPr lang="en-ID" smtClean="0"/>
              <a:t>4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866766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2839A0-9C9E-7896-FB5F-ED0F68B0B8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4C7DC5-C879-784E-1280-161A16C529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BF2286-3AEB-0820-C787-CBD7663A68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B768F4-EEFB-27E5-79C2-0F8464ABA7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D03F0E-4D61-4CDB-95CE-9F60B0A7D46F}" type="slidenum">
              <a:rPr lang="en-ID" smtClean="0"/>
              <a:t>5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722065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ID" dirty="0" err="1"/>
              <a:t>Menggunakan</a:t>
            </a:r>
            <a:r>
              <a:rPr lang="en-ID" dirty="0"/>
              <a:t> API yang </a:t>
            </a:r>
            <a:r>
              <a:rPr lang="en-ID" dirty="0" err="1"/>
              <a:t>tersedia</a:t>
            </a:r>
            <a:r>
              <a:rPr lang="en-ID" dirty="0"/>
              <a:t> </a:t>
            </a:r>
            <a:r>
              <a:rPr lang="en-ID" dirty="0" err="1"/>
              <a:t>secara</a:t>
            </a:r>
            <a:r>
              <a:rPr lang="en-ID" dirty="0"/>
              <a:t> </a:t>
            </a:r>
            <a:r>
              <a:rPr lang="en-ID" dirty="0" err="1"/>
              <a:t>publik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memahami</a:t>
            </a:r>
            <a:r>
              <a:rPr lang="en-ID" dirty="0"/>
              <a:t> </a:t>
            </a:r>
            <a:r>
              <a:rPr lang="en-ID" dirty="0" err="1"/>
              <a:t>cara</a:t>
            </a:r>
            <a:r>
              <a:rPr lang="en-ID" dirty="0"/>
              <a:t> </a:t>
            </a:r>
            <a:r>
              <a:rPr lang="en-ID" dirty="0" err="1"/>
              <a:t>kerja</a:t>
            </a:r>
            <a:r>
              <a:rPr lang="en-ID" dirty="0"/>
              <a:t> Web Service. </a:t>
            </a:r>
          </a:p>
          <a:p>
            <a:pPr marL="0" indent="0">
              <a:buFontTx/>
              <a:buNone/>
            </a:pPr>
            <a:r>
              <a:rPr lang="en-ID" dirty="0"/>
              <a:t>Tools </a:t>
            </a:r>
            <a:r>
              <a:rPr lang="en-ID" b="1" dirty="0"/>
              <a:t>Postman</a:t>
            </a:r>
            <a:r>
              <a:rPr lang="en-ID" dirty="0"/>
              <a:t> </a:t>
            </a:r>
            <a:r>
              <a:rPr lang="en-ID" dirty="0" err="1"/>
              <a:t>nanti</a:t>
            </a:r>
            <a:r>
              <a:rPr lang="en-ID" dirty="0"/>
              <a:t> </a:t>
            </a:r>
            <a:r>
              <a:rPr lang="en-ID" dirty="0" err="1"/>
              <a:t>digunakan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menguji</a:t>
            </a:r>
            <a:r>
              <a:rPr lang="en-ID" dirty="0"/>
              <a:t> request dan response API. </a:t>
            </a:r>
            <a:r>
              <a:rPr lang="en-ID" dirty="0" err="1"/>
              <a:t>Contoh</a:t>
            </a:r>
            <a:r>
              <a:rPr lang="en-ID" dirty="0"/>
              <a:t> API </a:t>
            </a:r>
            <a:r>
              <a:rPr lang="en-ID" dirty="0" err="1"/>
              <a:t>publik</a:t>
            </a:r>
            <a:r>
              <a:rPr lang="en-ID" dirty="0"/>
              <a:t>: API GitHub.</a:t>
            </a:r>
          </a:p>
          <a:p>
            <a:pPr marL="171450" indent="-171450">
              <a:buFontTx/>
              <a:buChar char="-"/>
            </a:pPr>
            <a:r>
              <a:rPr lang="en-ID" b="1" dirty="0" err="1"/>
              <a:t>GoLang</a:t>
            </a:r>
            <a:r>
              <a:rPr lang="en-ID" dirty="0"/>
              <a:t>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dirty="0" err="1"/>
              <a:t>bahasa</a:t>
            </a:r>
            <a:r>
              <a:rPr lang="en-ID" dirty="0"/>
              <a:t> </a:t>
            </a:r>
            <a:r>
              <a:rPr lang="en-ID" dirty="0" err="1"/>
              <a:t>pemrograman</a:t>
            </a:r>
            <a:r>
              <a:rPr lang="en-ID" dirty="0"/>
              <a:t> yang </a:t>
            </a:r>
            <a:r>
              <a:rPr lang="en-ID" dirty="0" err="1"/>
              <a:t>cepat</a:t>
            </a:r>
            <a:r>
              <a:rPr lang="en-ID" dirty="0"/>
              <a:t> dan </a:t>
            </a:r>
            <a:r>
              <a:rPr lang="en-ID" dirty="0" err="1"/>
              <a:t>efisien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membangun</a:t>
            </a:r>
            <a:r>
              <a:rPr lang="en-ID" dirty="0"/>
              <a:t> backend. </a:t>
            </a:r>
          </a:p>
          <a:p>
            <a:pPr marL="0" indent="0">
              <a:buFontTx/>
              <a:buNone/>
            </a:pPr>
            <a:r>
              <a:rPr lang="en-ID" b="1" dirty="0"/>
              <a:t>Fiber</a:t>
            </a:r>
            <a:r>
              <a:rPr lang="en-ID" dirty="0"/>
              <a:t> </a:t>
            </a:r>
            <a:r>
              <a:rPr lang="en-ID" dirty="0" err="1"/>
              <a:t>adalah</a:t>
            </a:r>
            <a:r>
              <a:rPr lang="en-ID" dirty="0"/>
              <a:t> framework Go yang </a:t>
            </a:r>
            <a:r>
              <a:rPr lang="en-ID" dirty="0" err="1"/>
              <a:t>ringan</a:t>
            </a:r>
            <a:r>
              <a:rPr lang="en-ID" dirty="0"/>
              <a:t> dan </a:t>
            </a:r>
            <a:r>
              <a:rPr lang="en-ID" dirty="0" err="1"/>
              <a:t>mirip</a:t>
            </a:r>
            <a:r>
              <a:rPr lang="en-ID" dirty="0"/>
              <a:t> Express.js di Node.js. </a:t>
            </a:r>
          </a:p>
          <a:p>
            <a:pPr marL="0" indent="0">
              <a:buFontTx/>
              <a:buNone/>
            </a:pPr>
            <a:r>
              <a:rPr lang="en-ID" dirty="0" err="1"/>
              <a:t>Membangun</a:t>
            </a:r>
            <a:r>
              <a:rPr lang="en-ID" dirty="0"/>
              <a:t> endpoint REST API yang </a:t>
            </a:r>
            <a:r>
              <a:rPr lang="en-ID" dirty="0" err="1"/>
              <a:t>bisa</a:t>
            </a:r>
            <a:r>
              <a:rPr lang="en-ID" dirty="0"/>
              <a:t> </a:t>
            </a:r>
            <a:r>
              <a:rPr lang="en-ID" dirty="0" err="1"/>
              <a:t>mengirim</a:t>
            </a:r>
            <a:r>
              <a:rPr lang="en-ID" dirty="0"/>
              <a:t> data </a:t>
            </a:r>
            <a:r>
              <a:rPr lang="en-ID" dirty="0" err="1"/>
              <a:t>dalam</a:t>
            </a:r>
            <a:r>
              <a:rPr lang="en-ID" dirty="0"/>
              <a:t> format </a:t>
            </a:r>
            <a:r>
              <a:rPr lang="en-ID" b="1" dirty="0"/>
              <a:t>JSON</a:t>
            </a:r>
            <a:r>
              <a:rPr lang="en-ID" dirty="0"/>
              <a:t>.</a:t>
            </a:r>
          </a:p>
          <a:p>
            <a:pPr marL="171450" indent="-171450">
              <a:buFontTx/>
              <a:buChar char="-"/>
            </a:pPr>
            <a:r>
              <a:rPr lang="en-ID" b="1" dirty="0"/>
              <a:t>HTML &amp; JavaScript</a:t>
            </a:r>
            <a:r>
              <a:rPr lang="en-ID" dirty="0"/>
              <a:t> </a:t>
            </a:r>
            <a:r>
              <a:rPr lang="en-ID" dirty="0" err="1"/>
              <a:t>digunakan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membuat</a:t>
            </a:r>
            <a:r>
              <a:rPr lang="en-ID" dirty="0"/>
              <a:t> frontend yang </a:t>
            </a:r>
            <a:r>
              <a:rPr lang="en-ID" dirty="0" err="1"/>
              <a:t>bisa</a:t>
            </a:r>
            <a:r>
              <a:rPr lang="en-ID" dirty="0"/>
              <a:t> </a:t>
            </a:r>
            <a:r>
              <a:rPr lang="en-ID" dirty="0" err="1"/>
              <a:t>mengakses</a:t>
            </a:r>
            <a:r>
              <a:rPr lang="en-ID" dirty="0"/>
              <a:t> API. </a:t>
            </a:r>
          </a:p>
          <a:p>
            <a:pPr marL="0" indent="0">
              <a:buFontTx/>
              <a:buNone/>
            </a:pPr>
            <a:r>
              <a:rPr lang="en-ID" b="1" dirty="0"/>
              <a:t>Fetch API</a:t>
            </a:r>
            <a:r>
              <a:rPr lang="en-ID" dirty="0"/>
              <a:t>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b="1" dirty="0"/>
              <a:t>Axios</a:t>
            </a:r>
            <a:r>
              <a:rPr lang="en-ID" dirty="0"/>
              <a:t> </a:t>
            </a:r>
            <a:r>
              <a:rPr lang="en-ID" dirty="0" err="1"/>
              <a:t>digunakan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mengirim</a:t>
            </a:r>
            <a:r>
              <a:rPr lang="en-ID" dirty="0"/>
              <a:t> request </a:t>
            </a:r>
            <a:r>
              <a:rPr lang="en-ID" dirty="0" err="1"/>
              <a:t>ke</a:t>
            </a:r>
            <a:r>
              <a:rPr lang="en-ID" dirty="0"/>
              <a:t> server. </a:t>
            </a:r>
          </a:p>
          <a:p>
            <a:pPr marL="0" indent="0">
              <a:buFontTx/>
              <a:buNone/>
            </a:pPr>
            <a:r>
              <a:rPr lang="en-ID" dirty="0" err="1"/>
              <a:t>Menampilkan</a:t>
            </a:r>
            <a:r>
              <a:rPr lang="en-ID" dirty="0"/>
              <a:t> data API di </a:t>
            </a:r>
            <a:r>
              <a:rPr lang="en-ID" dirty="0" err="1"/>
              <a:t>halaman</a:t>
            </a:r>
            <a:r>
              <a:rPr lang="en-ID" dirty="0"/>
              <a:t> web </a:t>
            </a:r>
            <a:r>
              <a:rPr lang="en-ID" dirty="0" err="1"/>
              <a:t>secara</a:t>
            </a:r>
            <a:r>
              <a:rPr lang="en-ID" dirty="0"/>
              <a:t> </a:t>
            </a:r>
            <a:r>
              <a:rPr lang="en-ID" dirty="0" err="1"/>
              <a:t>dinamis</a:t>
            </a:r>
            <a:r>
              <a:rPr lang="en-ID" dirty="0"/>
              <a:t>.</a:t>
            </a:r>
          </a:p>
          <a:p>
            <a:pPr marL="171450" indent="-171450">
              <a:buFontTx/>
              <a:buChar char="-"/>
            </a:pPr>
            <a:r>
              <a:rPr lang="en-ID" b="1" dirty="0"/>
              <a:t>Heroku</a:t>
            </a:r>
            <a:r>
              <a:rPr lang="en-ID" dirty="0"/>
              <a:t> </a:t>
            </a:r>
            <a:r>
              <a:rPr lang="en-ID" dirty="0" err="1"/>
              <a:t>adalah</a:t>
            </a:r>
            <a:r>
              <a:rPr lang="en-ID" dirty="0"/>
              <a:t> platform cloud yang </a:t>
            </a:r>
            <a:r>
              <a:rPr lang="en-ID" dirty="0" err="1"/>
              <a:t>digunakan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menjalankan</a:t>
            </a:r>
            <a:r>
              <a:rPr lang="en-ID" dirty="0"/>
              <a:t> </a:t>
            </a:r>
            <a:r>
              <a:rPr lang="en-ID" dirty="0" err="1"/>
              <a:t>aplikasi</a:t>
            </a:r>
            <a:r>
              <a:rPr lang="en-ID" dirty="0"/>
              <a:t> backend. M</a:t>
            </a:r>
          </a:p>
          <a:p>
            <a:pPr marL="0" indent="0">
              <a:buFontTx/>
              <a:buNone/>
            </a:pPr>
            <a:r>
              <a:rPr lang="en-ID" dirty="0" err="1"/>
              <a:t>Memungkinkan</a:t>
            </a:r>
            <a:r>
              <a:rPr lang="en-ID" dirty="0"/>
              <a:t> API </a:t>
            </a:r>
            <a:r>
              <a:rPr lang="en-ID" dirty="0" err="1"/>
              <a:t>bisa</a:t>
            </a:r>
            <a:r>
              <a:rPr lang="en-ID" dirty="0"/>
              <a:t> </a:t>
            </a:r>
            <a:r>
              <a:rPr lang="en-ID" dirty="0" err="1"/>
              <a:t>diakses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mana </a:t>
            </a:r>
            <a:r>
              <a:rPr lang="en-ID" dirty="0" err="1"/>
              <a:t>saja</a:t>
            </a:r>
            <a:r>
              <a:rPr lang="en-ID" dirty="0"/>
              <a:t> </a:t>
            </a:r>
            <a:r>
              <a:rPr lang="en-ID" dirty="0" err="1"/>
              <a:t>secara</a:t>
            </a:r>
            <a:r>
              <a:rPr lang="en-ID" dirty="0"/>
              <a:t> online</a:t>
            </a:r>
          </a:p>
          <a:p>
            <a:pPr marL="171450" indent="-171450">
              <a:buFontTx/>
              <a:buChar char="-"/>
            </a:pPr>
            <a:r>
              <a:rPr lang="en-ID" b="1" dirty="0"/>
              <a:t>GitHub Pages</a:t>
            </a:r>
            <a:r>
              <a:rPr lang="en-ID" dirty="0"/>
              <a:t> </a:t>
            </a:r>
            <a:r>
              <a:rPr lang="en-ID" dirty="0" err="1"/>
              <a:t>digunakan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men-deploy frontend agar </a:t>
            </a:r>
            <a:r>
              <a:rPr lang="en-ID" dirty="0" err="1"/>
              <a:t>bisa</a:t>
            </a:r>
            <a:r>
              <a:rPr lang="en-ID" dirty="0"/>
              <a:t> </a:t>
            </a:r>
            <a:r>
              <a:rPr lang="en-ID" dirty="0" err="1"/>
              <a:t>diakses</a:t>
            </a:r>
            <a:r>
              <a:rPr lang="en-ID" dirty="0"/>
              <a:t> public</a:t>
            </a:r>
          </a:p>
          <a:p>
            <a:pPr marL="171450" indent="-171450">
              <a:buFontTx/>
              <a:buChar char="-"/>
            </a:pPr>
            <a:r>
              <a:rPr lang="en-ID" b="1" dirty="0"/>
              <a:t>MongoDB</a:t>
            </a:r>
            <a:r>
              <a:rPr lang="en-ID" dirty="0"/>
              <a:t> </a:t>
            </a:r>
            <a:r>
              <a:rPr lang="en-ID" dirty="0" err="1"/>
              <a:t>adalah</a:t>
            </a:r>
            <a:r>
              <a:rPr lang="en-ID" dirty="0"/>
              <a:t> database NoSQL yang </a:t>
            </a:r>
            <a:r>
              <a:rPr lang="en-ID" dirty="0" err="1"/>
              <a:t>cocok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menyimpan</a:t>
            </a:r>
            <a:r>
              <a:rPr lang="en-ID" dirty="0"/>
              <a:t> data </a:t>
            </a:r>
            <a:r>
              <a:rPr lang="en-ID" dirty="0" err="1"/>
              <a:t>dalam</a:t>
            </a:r>
            <a:r>
              <a:rPr lang="en-ID" dirty="0"/>
              <a:t> format </a:t>
            </a:r>
            <a:r>
              <a:rPr lang="en-ID" b="1" dirty="0"/>
              <a:t>JSON-like</a:t>
            </a:r>
            <a:r>
              <a:rPr lang="en-ID" dirty="0"/>
              <a:t>. </a:t>
            </a:r>
          </a:p>
          <a:p>
            <a:pPr marL="0" indent="0">
              <a:buFontTx/>
              <a:buNone/>
            </a:pPr>
            <a:r>
              <a:rPr lang="en-ID" dirty="0" err="1"/>
              <a:t>Fleksibel</a:t>
            </a:r>
            <a:r>
              <a:rPr lang="en-ID" dirty="0"/>
              <a:t>, </a:t>
            </a:r>
            <a:r>
              <a:rPr lang="en-ID" dirty="0" err="1"/>
              <a:t>cepat</a:t>
            </a:r>
            <a:r>
              <a:rPr lang="en-ID" dirty="0"/>
              <a:t>, dan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diintegrasikan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GoLang</a:t>
            </a:r>
            <a:r>
              <a:rPr lang="en-ID" dirty="0"/>
              <a:t>. </a:t>
            </a:r>
          </a:p>
          <a:p>
            <a:pPr marL="0" indent="0">
              <a:buFontTx/>
              <a:buNone/>
            </a:pPr>
            <a:r>
              <a:rPr lang="en-ID" dirty="0" err="1"/>
              <a:t>Membuat</a:t>
            </a:r>
            <a:r>
              <a:rPr lang="en-ID" dirty="0"/>
              <a:t> </a:t>
            </a:r>
            <a:r>
              <a:rPr lang="en-ID" b="1" dirty="0"/>
              <a:t>CRUD (Create, Read, Update, Delete)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mengelola</a:t>
            </a:r>
            <a:r>
              <a:rPr lang="en-ID" dirty="0"/>
              <a:t> data API.</a:t>
            </a:r>
          </a:p>
          <a:p>
            <a:pPr marL="171450" indent="-171450">
              <a:buFontTx/>
              <a:buChar char="-"/>
            </a:pPr>
            <a:r>
              <a:rPr lang="en-ID" b="1" dirty="0"/>
              <a:t>Swagger</a:t>
            </a:r>
            <a:r>
              <a:rPr lang="en-ID" dirty="0"/>
              <a:t> </a:t>
            </a:r>
            <a:r>
              <a:rPr lang="en-ID" dirty="0" err="1"/>
              <a:t>digunakan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mendokumentasikan</a:t>
            </a:r>
            <a:r>
              <a:rPr lang="en-ID" dirty="0"/>
              <a:t> API agar </a:t>
            </a:r>
            <a:r>
              <a:rPr lang="en-ID" dirty="0" err="1"/>
              <a:t>mudah</a:t>
            </a:r>
            <a:r>
              <a:rPr lang="en-ID" dirty="0"/>
              <a:t> </a:t>
            </a:r>
            <a:r>
              <a:rPr lang="en-ID" dirty="0" err="1"/>
              <a:t>dipahami</a:t>
            </a:r>
            <a:r>
              <a:rPr lang="en-ID" dirty="0"/>
              <a:t> dan </a:t>
            </a:r>
            <a:r>
              <a:rPr lang="en-ID" dirty="0" err="1"/>
              <a:t>digunakan</a:t>
            </a:r>
            <a:r>
              <a:rPr lang="en-ID" dirty="0"/>
              <a:t> oleh developer lain.</a:t>
            </a:r>
          </a:p>
          <a:p>
            <a:pPr marL="0" indent="0">
              <a:buFontTx/>
              <a:buNone/>
            </a:pPr>
            <a:r>
              <a:rPr lang="en-ID" dirty="0" err="1"/>
              <a:t>Menampilkan</a:t>
            </a:r>
            <a:r>
              <a:rPr lang="en-ID" dirty="0"/>
              <a:t> </a:t>
            </a:r>
            <a:r>
              <a:rPr lang="en-ID" dirty="0" err="1"/>
              <a:t>informasi</a:t>
            </a:r>
            <a:r>
              <a:rPr lang="en-ID" dirty="0"/>
              <a:t> </a:t>
            </a:r>
            <a:r>
              <a:rPr lang="en-ID" dirty="0" err="1"/>
              <a:t>seperti</a:t>
            </a:r>
            <a:r>
              <a:rPr lang="en-ID" dirty="0"/>
              <a:t> endpoint, </a:t>
            </a:r>
            <a:r>
              <a:rPr lang="en-ID" dirty="0" err="1"/>
              <a:t>metode</a:t>
            </a:r>
            <a:r>
              <a:rPr lang="en-ID" dirty="0"/>
              <a:t> HTTP (GET, POST, PUT, DELETE), parameter, dan </a:t>
            </a:r>
            <a:r>
              <a:rPr lang="en-ID" dirty="0" err="1"/>
              <a:t>contoh</a:t>
            </a:r>
            <a:r>
              <a:rPr lang="en-ID" dirty="0"/>
              <a:t> response.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D03F0E-4D61-4CDB-95CE-9F60B0A7D46F}" type="slidenum">
              <a:rPr lang="en-ID" smtClean="0"/>
              <a:t>6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217164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D03F0E-4D61-4CDB-95CE-9F60B0A7D46F}" type="slidenum">
              <a:rPr lang="en-ID" smtClean="0"/>
              <a:t>12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9824149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5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40790" y="0"/>
            <a:ext cx="212090" cy="5143500"/>
            <a:chOff x="0" y="0"/>
            <a:chExt cx="55859" cy="13546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5859" cy="1354667"/>
            </a:xfrm>
            <a:custGeom>
              <a:avLst/>
              <a:gdLst/>
              <a:ahLst/>
              <a:cxnLst/>
              <a:rect l="l" t="t" r="r" b="b"/>
              <a:pathLst>
                <a:path w="55859" h="1354667">
                  <a:moveTo>
                    <a:pt x="0" y="0"/>
                  </a:moveTo>
                  <a:lnTo>
                    <a:pt x="55859" y="0"/>
                  </a:lnTo>
                  <a:lnTo>
                    <a:pt x="55859" y="1354667"/>
                  </a:lnTo>
                  <a:lnTo>
                    <a:pt x="0" y="1354667"/>
                  </a:lnTo>
                  <a:close/>
                </a:path>
              </a:pathLst>
            </a:custGeom>
            <a:solidFill>
              <a:srgbClr val="F9B314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55859" cy="13927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4500955" y="1451912"/>
            <a:ext cx="2758345" cy="245871"/>
            <a:chOff x="0" y="0"/>
            <a:chExt cx="726478" cy="6475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726478" cy="64756"/>
            </a:xfrm>
            <a:custGeom>
              <a:avLst/>
              <a:gdLst/>
              <a:ahLst/>
              <a:cxnLst/>
              <a:rect l="l" t="t" r="r" b="b"/>
              <a:pathLst>
                <a:path w="726478" h="64756">
                  <a:moveTo>
                    <a:pt x="0" y="0"/>
                  </a:moveTo>
                  <a:lnTo>
                    <a:pt x="726478" y="0"/>
                  </a:lnTo>
                  <a:lnTo>
                    <a:pt x="726478" y="64756"/>
                  </a:lnTo>
                  <a:lnTo>
                    <a:pt x="0" y="64756"/>
                  </a:lnTo>
                  <a:close/>
                </a:path>
              </a:pathLst>
            </a:custGeom>
            <a:solidFill>
              <a:srgbClr val="F9B314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726478" cy="1028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4787351" y="-318930"/>
            <a:ext cx="2185553" cy="2185553"/>
          </a:xfrm>
          <a:custGeom>
            <a:avLst/>
            <a:gdLst/>
            <a:ahLst/>
            <a:cxnLst/>
            <a:rect l="l" t="t" r="r" b="b"/>
            <a:pathLst>
              <a:path w="2185553" h="2185553">
                <a:moveTo>
                  <a:pt x="0" y="0"/>
                </a:moveTo>
                <a:lnTo>
                  <a:pt x="2185553" y="0"/>
                </a:lnTo>
                <a:lnTo>
                  <a:pt x="2185553" y="2185553"/>
                </a:lnTo>
                <a:lnTo>
                  <a:pt x="0" y="218555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9" name="Freeform 9"/>
          <p:cNvSpPr/>
          <p:nvPr/>
        </p:nvSpPr>
        <p:spPr>
          <a:xfrm>
            <a:off x="863374" y="9258300"/>
            <a:ext cx="754831" cy="701674"/>
          </a:xfrm>
          <a:custGeom>
            <a:avLst/>
            <a:gdLst/>
            <a:ahLst/>
            <a:cxnLst/>
            <a:rect l="l" t="t" r="r" b="b"/>
            <a:pathLst>
              <a:path w="754831" h="701674">
                <a:moveTo>
                  <a:pt x="0" y="0"/>
                </a:moveTo>
                <a:lnTo>
                  <a:pt x="754831" y="0"/>
                </a:lnTo>
                <a:lnTo>
                  <a:pt x="754831" y="701674"/>
                </a:lnTo>
                <a:lnTo>
                  <a:pt x="0" y="70167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10" name="TextBox 10"/>
          <p:cNvSpPr txBox="1"/>
          <p:nvPr/>
        </p:nvSpPr>
        <p:spPr>
          <a:xfrm>
            <a:off x="2829775" y="4088040"/>
            <a:ext cx="13298598" cy="1360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0560"/>
              </a:lnSpc>
            </a:pPr>
            <a:r>
              <a:rPr lang="en-US" sz="9600" dirty="0">
                <a:solidFill>
                  <a:srgbClr val="1211CA"/>
                </a:solidFill>
                <a:latin typeface="Montserrat Ultra-Bold"/>
              </a:rPr>
              <a:t>PEMROGRAMAN III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829775" y="5238750"/>
            <a:ext cx="9288593" cy="1360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0560"/>
              </a:lnSpc>
            </a:pPr>
            <a:r>
              <a:rPr lang="en-US" sz="9600" dirty="0">
                <a:solidFill>
                  <a:srgbClr val="F9B314"/>
                </a:solidFill>
                <a:latin typeface="Montserrat Ultra-Bold"/>
              </a:rPr>
              <a:t>WEBSERVICE</a:t>
            </a:r>
          </a:p>
        </p:txBody>
      </p:sp>
      <p:sp>
        <p:nvSpPr>
          <p:cNvPr id="12" name="TextBox 12"/>
          <p:cNvSpPr txBox="1"/>
          <p:nvPr/>
        </p:nvSpPr>
        <p:spPr>
          <a:xfrm rot="-5400000">
            <a:off x="-775100" y="6890150"/>
            <a:ext cx="3974630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920"/>
              </a:lnSpc>
            </a:pPr>
            <a:r>
              <a:rPr lang="en-US" sz="2800" dirty="0">
                <a:solidFill>
                  <a:srgbClr val="101010"/>
                </a:solidFill>
                <a:latin typeface="Montserrat Classic"/>
              </a:rPr>
              <a:t>www.ulbi.ac.id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829775" y="6998606"/>
            <a:ext cx="9288593" cy="596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899"/>
              </a:lnSpc>
            </a:pPr>
            <a:r>
              <a:rPr lang="en-US" sz="3499" spc="118" dirty="0" err="1">
                <a:solidFill>
                  <a:srgbClr val="101010"/>
                </a:solidFill>
                <a:latin typeface="Glacial Indifference Bold"/>
              </a:rPr>
              <a:t>Aturan</a:t>
            </a:r>
            <a:r>
              <a:rPr lang="en-US" sz="3499" spc="118" dirty="0">
                <a:solidFill>
                  <a:srgbClr val="101010"/>
                </a:solidFill>
                <a:latin typeface="Glacial Indifference Bold"/>
              </a:rPr>
              <a:t> dan </a:t>
            </a:r>
            <a:r>
              <a:rPr lang="en-US" sz="3499" spc="118" dirty="0" err="1">
                <a:solidFill>
                  <a:srgbClr val="101010"/>
                </a:solidFill>
                <a:latin typeface="Glacial Indifference Bold"/>
              </a:rPr>
              <a:t>Kontrak</a:t>
            </a:r>
            <a:r>
              <a:rPr lang="en-US" sz="3499" spc="118" dirty="0">
                <a:solidFill>
                  <a:srgbClr val="101010"/>
                </a:solidFill>
                <a:latin typeface="Glacial Indifference Bold"/>
              </a:rPr>
              <a:t> </a:t>
            </a:r>
            <a:r>
              <a:rPr lang="en-US" sz="3499" spc="118" dirty="0" err="1">
                <a:solidFill>
                  <a:srgbClr val="101010"/>
                </a:solidFill>
                <a:latin typeface="Glacial Indifference Bold"/>
              </a:rPr>
              <a:t>Perkuliahan</a:t>
            </a:r>
            <a:endParaRPr lang="en-US" sz="3499" spc="118" dirty="0">
              <a:solidFill>
                <a:srgbClr val="101010"/>
              </a:solidFill>
              <a:latin typeface="Glacial Indifference Bold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5667D6F-F5E4-BA9E-0538-025898810C54}"/>
              </a:ext>
            </a:extLst>
          </p:cNvPr>
          <p:cNvSpPr/>
          <p:nvPr/>
        </p:nvSpPr>
        <p:spPr>
          <a:xfrm>
            <a:off x="13586892" y="8574224"/>
            <a:ext cx="3672408" cy="136815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ko-KR" dirty="0">
                <a:solidFill>
                  <a:schemeClr val="accent5">
                    <a:lumMod val="50000"/>
                  </a:schemeClr>
                </a:solidFill>
              </a:rPr>
              <a:t>        indra@ulbi.ac.id</a:t>
            </a:r>
            <a:br>
              <a:rPr lang="en-US" altLang="ko-KR" dirty="0">
                <a:solidFill>
                  <a:schemeClr val="accent5">
                    <a:lumMod val="50000"/>
                  </a:schemeClr>
                </a:solidFill>
              </a:rPr>
            </a:br>
            <a:endParaRPr lang="en-US" altLang="ko-KR" dirty="0">
              <a:solidFill>
                <a:schemeClr val="accent5">
                  <a:lumMod val="50000"/>
                </a:schemeClr>
              </a:solidFill>
            </a:endParaRPr>
          </a:p>
          <a:p>
            <a:r>
              <a:rPr lang="en-US" altLang="ko-KR" dirty="0">
                <a:solidFill>
                  <a:schemeClr val="accent5">
                    <a:lumMod val="50000"/>
                  </a:schemeClr>
                </a:solidFill>
              </a:rPr>
              <a:t>        08122221814</a:t>
            </a:r>
            <a:endParaRPr lang="ko-KR" altLang="en-US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2A0A4B6-B036-6A87-C03E-4C35B2BA9EF9}"/>
              </a:ext>
            </a:extLst>
          </p:cNvPr>
          <p:cNvSpPr/>
          <p:nvPr/>
        </p:nvSpPr>
        <p:spPr>
          <a:xfrm>
            <a:off x="13802916" y="8240078"/>
            <a:ext cx="2808312" cy="47997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ko-KR" sz="1600" b="1" dirty="0"/>
              <a:t>Contact</a:t>
            </a:r>
            <a:endParaRPr lang="ko-KR" altLang="en-US" sz="1600" b="1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9B3ED06-6D2F-4F08-9EDF-28EF0D21323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13877" y="8734283"/>
            <a:ext cx="503740" cy="50374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F9B37E2-D153-144D-7B33-23FF94967D1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36774" y="9316349"/>
            <a:ext cx="457945" cy="4579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574847"/>
            <a:ext cx="1856645" cy="68071"/>
            <a:chOff x="0" y="0"/>
            <a:chExt cx="488993" cy="1792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8993" cy="17928"/>
            </a:xfrm>
            <a:custGeom>
              <a:avLst/>
              <a:gdLst/>
              <a:ahLst/>
              <a:cxnLst/>
              <a:rect l="l" t="t" r="r" b="b"/>
              <a:pathLst>
                <a:path w="488993" h="17928">
                  <a:moveTo>
                    <a:pt x="0" y="0"/>
                  </a:moveTo>
                  <a:lnTo>
                    <a:pt x="488993" y="0"/>
                  </a:lnTo>
                  <a:lnTo>
                    <a:pt x="488993" y="17928"/>
                  </a:lnTo>
                  <a:lnTo>
                    <a:pt x="0" y="17928"/>
                  </a:lnTo>
                  <a:close/>
                </a:path>
              </a:pathLst>
            </a:custGeom>
            <a:solidFill>
              <a:srgbClr val="F9B314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8993" cy="560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28700" y="1971398"/>
            <a:ext cx="5922266" cy="529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947"/>
              </a:lnSpc>
            </a:pPr>
            <a:r>
              <a:rPr lang="en-US" sz="4200">
                <a:solidFill>
                  <a:srgbClr val="1211CA"/>
                </a:solidFill>
                <a:latin typeface="Montserrat Heavy"/>
              </a:rPr>
              <a:t>Kontrak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2605382"/>
            <a:ext cx="5922266" cy="529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947"/>
              </a:lnSpc>
            </a:pPr>
            <a:r>
              <a:rPr lang="en-US" sz="4200" dirty="0" err="1">
                <a:solidFill>
                  <a:srgbClr val="F9B314"/>
                </a:solidFill>
                <a:latin typeface="Montserrat Heavy"/>
              </a:rPr>
              <a:t>Perkuliahan</a:t>
            </a:r>
            <a:endParaRPr lang="en-US" sz="4200" dirty="0">
              <a:solidFill>
                <a:srgbClr val="F9B314"/>
              </a:solidFill>
              <a:latin typeface="Montserrat Heavy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028700" y="981075"/>
            <a:ext cx="7042449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359"/>
              </a:lnSpc>
            </a:pPr>
            <a:r>
              <a:rPr lang="en-US" sz="2400">
                <a:solidFill>
                  <a:srgbClr val="101010"/>
                </a:solidFill>
                <a:latin typeface="Montserrat Classic Bold"/>
              </a:rPr>
              <a:t>Universitas Logistik dan Bisnis Internasional</a:t>
            </a:r>
          </a:p>
        </p:txBody>
      </p:sp>
      <p:sp>
        <p:nvSpPr>
          <p:cNvPr id="8" name="Freeform 8"/>
          <p:cNvSpPr/>
          <p:nvPr/>
        </p:nvSpPr>
        <p:spPr>
          <a:xfrm>
            <a:off x="14787351" y="-318930"/>
            <a:ext cx="2185553" cy="2185553"/>
          </a:xfrm>
          <a:custGeom>
            <a:avLst/>
            <a:gdLst/>
            <a:ahLst/>
            <a:cxnLst/>
            <a:rect l="l" t="t" r="r" b="b"/>
            <a:pathLst>
              <a:path w="2185553" h="2185553">
                <a:moveTo>
                  <a:pt x="0" y="0"/>
                </a:moveTo>
                <a:lnTo>
                  <a:pt x="2185553" y="0"/>
                </a:lnTo>
                <a:lnTo>
                  <a:pt x="2185553" y="2185553"/>
                </a:lnTo>
                <a:lnTo>
                  <a:pt x="0" y="218555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grpSp>
        <p:nvGrpSpPr>
          <p:cNvPr id="9" name="Group 9"/>
          <p:cNvGrpSpPr/>
          <p:nvPr/>
        </p:nvGrpSpPr>
        <p:grpSpPr>
          <a:xfrm>
            <a:off x="14500955" y="1451912"/>
            <a:ext cx="2758345" cy="245871"/>
            <a:chOff x="0" y="0"/>
            <a:chExt cx="726478" cy="6475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726478" cy="64756"/>
            </a:xfrm>
            <a:custGeom>
              <a:avLst/>
              <a:gdLst/>
              <a:ahLst/>
              <a:cxnLst/>
              <a:rect l="l" t="t" r="r" b="b"/>
              <a:pathLst>
                <a:path w="726478" h="64756">
                  <a:moveTo>
                    <a:pt x="0" y="0"/>
                  </a:moveTo>
                  <a:lnTo>
                    <a:pt x="726478" y="0"/>
                  </a:lnTo>
                  <a:lnTo>
                    <a:pt x="726478" y="64756"/>
                  </a:lnTo>
                  <a:lnTo>
                    <a:pt x="0" y="64756"/>
                  </a:lnTo>
                  <a:close/>
                </a:path>
              </a:pathLst>
            </a:custGeom>
            <a:solidFill>
              <a:srgbClr val="F9B314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726478" cy="1028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349606" y="4569056"/>
            <a:ext cx="4464062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sz="2999">
                <a:solidFill>
                  <a:srgbClr val="2D262A"/>
                </a:solidFill>
                <a:latin typeface="Montserrat Classic"/>
              </a:rPr>
              <a:t>SKS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49606" y="5203421"/>
            <a:ext cx="3105150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sz="2999">
                <a:solidFill>
                  <a:srgbClr val="2D262A"/>
                </a:solidFill>
                <a:latin typeface="Montserrat Classic"/>
              </a:rPr>
              <a:t>Pengajar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349606" y="5837786"/>
            <a:ext cx="3105150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sz="2999" dirty="0">
                <a:solidFill>
                  <a:srgbClr val="2D262A"/>
                </a:solidFill>
                <a:latin typeface="Montserrat Classic"/>
              </a:rPr>
              <a:t>Semester / TA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49606" y="6472151"/>
            <a:ext cx="4081660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sz="2999" dirty="0">
                <a:solidFill>
                  <a:srgbClr val="2D262A"/>
                </a:solidFill>
                <a:latin typeface="Montserrat Classic"/>
              </a:rPr>
              <a:t>Hari / Jam / Ruang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49606" y="3934691"/>
            <a:ext cx="3521224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sz="2999" dirty="0">
                <a:solidFill>
                  <a:srgbClr val="2D262A"/>
                </a:solidFill>
                <a:latin typeface="Montserrat Classic"/>
              </a:rPr>
              <a:t>Nama Mata </a:t>
            </a:r>
            <a:r>
              <a:rPr lang="en-US" sz="2999" dirty="0" err="1">
                <a:solidFill>
                  <a:srgbClr val="2D262A"/>
                </a:solidFill>
                <a:latin typeface="Montserrat Classic"/>
              </a:rPr>
              <a:t>Kuliah</a:t>
            </a:r>
            <a:endParaRPr lang="en-US" sz="2999" dirty="0">
              <a:solidFill>
                <a:srgbClr val="2D262A"/>
              </a:solidFill>
              <a:latin typeface="Montserrat Classic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7226378" y="3934691"/>
            <a:ext cx="6837993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sz="2999" dirty="0">
                <a:solidFill>
                  <a:srgbClr val="2D262A"/>
                </a:solidFill>
                <a:latin typeface="Montserrat Classic"/>
              </a:rPr>
              <a:t>: </a:t>
            </a:r>
            <a:r>
              <a:rPr lang="en-US" sz="2999" dirty="0" err="1">
                <a:solidFill>
                  <a:srgbClr val="2D262A"/>
                </a:solidFill>
                <a:latin typeface="Montserrat Classic"/>
              </a:rPr>
              <a:t>Pemrograman</a:t>
            </a:r>
            <a:r>
              <a:rPr lang="en-US" sz="2999" dirty="0">
                <a:solidFill>
                  <a:srgbClr val="2D262A"/>
                </a:solidFill>
                <a:latin typeface="Montserrat Classic"/>
              </a:rPr>
              <a:t> III (Web Service)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226378" y="4569056"/>
            <a:ext cx="4548244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sz="2999" dirty="0">
                <a:solidFill>
                  <a:srgbClr val="2D262A"/>
                </a:solidFill>
                <a:latin typeface="Montserrat Classic"/>
              </a:rPr>
              <a:t>: 4 SKS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226378" y="5203421"/>
            <a:ext cx="8285922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sz="2999">
                <a:solidFill>
                  <a:srgbClr val="2D262A"/>
                </a:solidFill>
                <a:latin typeface="Montserrat Classic"/>
              </a:rPr>
              <a:t>: Indra Riksa Herlambang, M.Kom, SFPC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226378" y="5837786"/>
            <a:ext cx="4548244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sz="2999" dirty="0">
                <a:solidFill>
                  <a:srgbClr val="2D262A"/>
                </a:solidFill>
                <a:latin typeface="Montserrat Classic"/>
              </a:rPr>
              <a:t>: 4 - </a:t>
            </a:r>
            <a:r>
              <a:rPr lang="en-US" sz="2999" dirty="0" err="1">
                <a:solidFill>
                  <a:srgbClr val="2D262A"/>
                </a:solidFill>
                <a:latin typeface="Montserrat Classic"/>
              </a:rPr>
              <a:t>Genap</a:t>
            </a:r>
            <a:r>
              <a:rPr lang="en-US" sz="2999" dirty="0">
                <a:solidFill>
                  <a:srgbClr val="2D262A"/>
                </a:solidFill>
                <a:latin typeface="Montserrat Classic"/>
              </a:rPr>
              <a:t> / 2025-2026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226378" y="6472151"/>
            <a:ext cx="5827809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sz="2999" dirty="0">
                <a:solidFill>
                  <a:srgbClr val="2D262A"/>
                </a:solidFill>
                <a:latin typeface="Montserrat Classic"/>
              </a:rPr>
              <a:t>: </a:t>
            </a:r>
            <a:r>
              <a:rPr lang="en-US" sz="2999" dirty="0" err="1">
                <a:solidFill>
                  <a:srgbClr val="2D262A"/>
                </a:solidFill>
                <a:latin typeface="Montserrat Classic"/>
              </a:rPr>
              <a:t>Senin</a:t>
            </a:r>
            <a:r>
              <a:rPr lang="en-US" sz="2999" dirty="0">
                <a:solidFill>
                  <a:srgbClr val="2D262A"/>
                </a:solidFill>
                <a:latin typeface="Montserrat Classic"/>
              </a:rPr>
              <a:t>, 13.00-18.50 / Lab 317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574847"/>
            <a:ext cx="1856645" cy="68071"/>
            <a:chOff x="0" y="0"/>
            <a:chExt cx="488993" cy="1792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8993" cy="17928"/>
            </a:xfrm>
            <a:custGeom>
              <a:avLst/>
              <a:gdLst/>
              <a:ahLst/>
              <a:cxnLst/>
              <a:rect l="l" t="t" r="r" b="b"/>
              <a:pathLst>
                <a:path w="488993" h="17928">
                  <a:moveTo>
                    <a:pt x="0" y="0"/>
                  </a:moveTo>
                  <a:lnTo>
                    <a:pt x="488993" y="0"/>
                  </a:lnTo>
                  <a:lnTo>
                    <a:pt x="488993" y="17928"/>
                  </a:lnTo>
                  <a:lnTo>
                    <a:pt x="0" y="17928"/>
                  </a:lnTo>
                  <a:close/>
                </a:path>
              </a:pathLst>
            </a:custGeom>
            <a:solidFill>
              <a:srgbClr val="F9B314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8993" cy="560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4787351" y="-318930"/>
            <a:ext cx="2185553" cy="2185553"/>
          </a:xfrm>
          <a:custGeom>
            <a:avLst/>
            <a:gdLst/>
            <a:ahLst/>
            <a:cxnLst/>
            <a:rect l="l" t="t" r="r" b="b"/>
            <a:pathLst>
              <a:path w="2185553" h="2185553">
                <a:moveTo>
                  <a:pt x="0" y="0"/>
                </a:moveTo>
                <a:lnTo>
                  <a:pt x="2185553" y="0"/>
                </a:lnTo>
                <a:lnTo>
                  <a:pt x="2185553" y="2185553"/>
                </a:lnTo>
                <a:lnTo>
                  <a:pt x="0" y="21855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grpSp>
        <p:nvGrpSpPr>
          <p:cNvPr id="6" name="Group 6"/>
          <p:cNvGrpSpPr/>
          <p:nvPr/>
        </p:nvGrpSpPr>
        <p:grpSpPr>
          <a:xfrm>
            <a:off x="14500955" y="1451912"/>
            <a:ext cx="2758345" cy="245871"/>
            <a:chOff x="0" y="0"/>
            <a:chExt cx="726478" cy="6475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26478" cy="64756"/>
            </a:xfrm>
            <a:custGeom>
              <a:avLst/>
              <a:gdLst/>
              <a:ahLst/>
              <a:cxnLst/>
              <a:rect l="l" t="t" r="r" b="b"/>
              <a:pathLst>
                <a:path w="726478" h="64756">
                  <a:moveTo>
                    <a:pt x="0" y="0"/>
                  </a:moveTo>
                  <a:lnTo>
                    <a:pt x="726478" y="0"/>
                  </a:lnTo>
                  <a:lnTo>
                    <a:pt x="726478" y="64756"/>
                  </a:lnTo>
                  <a:lnTo>
                    <a:pt x="0" y="64756"/>
                  </a:lnTo>
                  <a:close/>
                </a:path>
              </a:pathLst>
            </a:custGeom>
            <a:solidFill>
              <a:srgbClr val="F9B314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726478" cy="1028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028700" y="1971398"/>
            <a:ext cx="5922266" cy="529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947"/>
              </a:lnSpc>
            </a:pPr>
            <a:r>
              <a:rPr lang="en-US" sz="4200">
                <a:solidFill>
                  <a:srgbClr val="1211CA"/>
                </a:solidFill>
                <a:latin typeface="Montserrat Heavy"/>
              </a:rPr>
              <a:t>Deskripsi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078536" y="1985064"/>
            <a:ext cx="5922266" cy="529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947"/>
              </a:lnSpc>
            </a:pPr>
            <a:r>
              <a:rPr lang="en-US" sz="4200" dirty="0">
                <a:solidFill>
                  <a:srgbClr val="F9B314"/>
                </a:solidFill>
                <a:latin typeface="Montserrat Heavy"/>
              </a:rPr>
              <a:t>Mata </a:t>
            </a:r>
            <a:r>
              <a:rPr lang="en-US" sz="4200" dirty="0" err="1">
                <a:solidFill>
                  <a:srgbClr val="F9B314"/>
                </a:solidFill>
                <a:latin typeface="Montserrat Heavy"/>
              </a:rPr>
              <a:t>Kuliah</a:t>
            </a:r>
            <a:endParaRPr lang="en-US" sz="4200" dirty="0">
              <a:solidFill>
                <a:srgbClr val="F9B314"/>
              </a:solidFill>
              <a:latin typeface="Montserrat Heavy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028700" y="981075"/>
            <a:ext cx="7042449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359"/>
              </a:lnSpc>
            </a:pPr>
            <a:r>
              <a:rPr lang="en-US" sz="2400">
                <a:solidFill>
                  <a:srgbClr val="101010"/>
                </a:solidFill>
                <a:latin typeface="Montserrat Classic Bold"/>
              </a:rPr>
              <a:t>Universitas Logistik dan Bisnis Internasional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2550682"/>
            <a:ext cx="10172700" cy="54168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/>
            <a:r>
              <a:rPr lang="en-ID" sz="3200" dirty="0"/>
              <a:t>Mata </a:t>
            </a:r>
            <a:r>
              <a:rPr lang="en-ID" sz="3200" dirty="0" err="1"/>
              <a:t>kuliah</a:t>
            </a:r>
            <a:r>
              <a:rPr lang="en-ID" sz="3200" dirty="0"/>
              <a:t> </a:t>
            </a:r>
            <a:r>
              <a:rPr lang="en-ID" sz="3200" dirty="0" err="1"/>
              <a:t>ini</a:t>
            </a:r>
            <a:r>
              <a:rPr lang="en-ID" sz="3200" dirty="0"/>
              <a:t> </a:t>
            </a:r>
            <a:r>
              <a:rPr lang="en-ID" sz="3200" dirty="0" err="1"/>
              <a:t>mempelajari</a:t>
            </a:r>
            <a:r>
              <a:rPr lang="en-ID" sz="3200" dirty="0"/>
              <a:t> </a:t>
            </a:r>
            <a:r>
              <a:rPr lang="en-ID" sz="3200" dirty="0" err="1"/>
              <a:t>konsep</a:t>
            </a:r>
            <a:r>
              <a:rPr lang="en-ID" sz="3200" dirty="0"/>
              <a:t> dan </a:t>
            </a:r>
            <a:r>
              <a:rPr lang="en-ID" sz="3200" dirty="0" err="1"/>
              <a:t>implementasi</a:t>
            </a:r>
            <a:r>
              <a:rPr lang="en-ID" sz="3200" dirty="0"/>
              <a:t> Web Service (API) yang </a:t>
            </a:r>
            <a:r>
              <a:rPr lang="en-ID" sz="3200" dirty="0" err="1"/>
              <a:t>menjadi</a:t>
            </a:r>
            <a:r>
              <a:rPr lang="en-ID" sz="3200" dirty="0"/>
              <a:t> </a:t>
            </a:r>
            <a:r>
              <a:rPr lang="en-ID" sz="3200" dirty="0" err="1"/>
              <a:t>fondasi</a:t>
            </a:r>
            <a:r>
              <a:rPr lang="en-ID" sz="3200" dirty="0"/>
              <a:t> </a:t>
            </a:r>
            <a:r>
              <a:rPr lang="en-ID" sz="3200" dirty="0" err="1"/>
              <a:t>integrasi</a:t>
            </a:r>
            <a:r>
              <a:rPr lang="en-ID" sz="3200" dirty="0"/>
              <a:t> </a:t>
            </a:r>
            <a:r>
              <a:rPr lang="en-ID" sz="3200" dirty="0" err="1"/>
              <a:t>sistem</a:t>
            </a:r>
            <a:r>
              <a:rPr lang="en-ID" sz="3200" dirty="0"/>
              <a:t> di </a:t>
            </a:r>
            <a:r>
              <a:rPr lang="en-ID" sz="3200" dirty="0" err="1"/>
              <a:t>industri</a:t>
            </a:r>
            <a:r>
              <a:rPr lang="en-ID" sz="3200" dirty="0"/>
              <a:t> modern. </a:t>
            </a:r>
            <a:r>
              <a:rPr lang="en-ID" sz="3200" dirty="0" err="1"/>
              <a:t>Hampir</a:t>
            </a:r>
            <a:r>
              <a:rPr lang="en-ID" sz="3200" dirty="0"/>
              <a:t> </a:t>
            </a:r>
            <a:r>
              <a:rPr lang="en-ID" sz="3200" dirty="0" err="1"/>
              <a:t>seluruh</a:t>
            </a:r>
            <a:r>
              <a:rPr lang="en-ID" sz="3200" dirty="0"/>
              <a:t> </a:t>
            </a:r>
            <a:r>
              <a:rPr lang="en-ID" sz="3200" dirty="0" err="1"/>
              <a:t>aplikasi</a:t>
            </a:r>
            <a:r>
              <a:rPr lang="en-ID" sz="3200" dirty="0"/>
              <a:t> digital </a:t>
            </a:r>
            <a:r>
              <a:rPr lang="en-ID" sz="3200" dirty="0" err="1"/>
              <a:t>saat</a:t>
            </a:r>
            <a:r>
              <a:rPr lang="en-ID" sz="3200" dirty="0"/>
              <a:t> </a:t>
            </a:r>
            <a:r>
              <a:rPr lang="en-ID" sz="3200" dirty="0" err="1"/>
              <a:t>ini</a:t>
            </a:r>
            <a:r>
              <a:rPr lang="en-ID" sz="3200" dirty="0"/>
              <a:t> </a:t>
            </a:r>
            <a:r>
              <a:rPr lang="en-ID" sz="3200" dirty="0" err="1"/>
              <a:t>menggunakan</a:t>
            </a:r>
            <a:r>
              <a:rPr lang="en-ID" sz="3200" dirty="0"/>
              <a:t> </a:t>
            </a:r>
            <a:r>
              <a:rPr lang="en-ID" sz="3200" dirty="0" err="1"/>
              <a:t>arsitektur</a:t>
            </a:r>
            <a:r>
              <a:rPr lang="en-ID" sz="3200" dirty="0"/>
              <a:t> </a:t>
            </a:r>
            <a:r>
              <a:rPr lang="en-ID" sz="3200" dirty="0" err="1"/>
              <a:t>berbasis</a:t>
            </a:r>
            <a:r>
              <a:rPr lang="en-ID" sz="3200" dirty="0"/>
              <a:t> API </a:t>
            </a:r>
            <a:r>
              <a:rPr lang="en-ID" sz="3200" dirty="0" err="1"/>
              <a:t>untuk</a:t>
            </a:r>
            <a:r>
              <a:rPr lang="en-ID" sz="3200" dirty="0"/>
              <a:t> </a:t>
            </a:r>
            <a:r>
              <a:rPr lang="en-ID" sz="3200" dirty="0" err="1"/>
              <a:t>memungkinkan</a:t>
            </a:r>
            <a:r>
              <a:rPr lang="en-ID" sz="3200" dirty="0"/>
              <a:t> </a:t>
            </a:r>
            <a:r>
              <a:rPr lang="en-ID" sz="3200" dirty="0" err="1"/>
              <a:t>komunikasi</a:t>
            </a:r>
            <a:r>
              <a:rPr lang="en-ID" sz="3200" dirty="0"/>
              <a:t> </a:t>
            </a:r>
            <a:r>
              <a:rPr lang="en-ID" sz="3200" dirty="0" err="1"/>
              <a:t>antar</a:t>
            </a:r>
            <a:r>
              <a:rPr lang="en-ID" sz="3200" dirty="0"/>
              <a:t> </a:t>
            </a:r>
            <a:r>
              <a:rPr lang="en-ID" sz="3200" dirty="0" err="1"/>
              <a:t>layanan</a:t>
            </a:r>
            <a:r>
              <a:rPr lang="en-ID" sz="3200" dirty="0"/>
              <a:t> </a:t>
            </a:r>
            <a:r>
              <a:rPr lang="en-ID" sz="3200" dirty="0" err="1"/>
              <a:t>lintas</a:t>
            </a:r>
            <a:r>
              <a:rPr lang="en-ID" sz="3200" dirty="0"/>
              <a:t> platform.</a:t>
            </a:r>
          </a:p>
          <a:p>
            <a:pPr algn="just"/>
            <a:endParaRPr lang="en-ID" sz="3200" dirty="0"/>
          </a:p>
          <a:p>
            <a:pPr algn="just"/>
            <a:r>
              <a:rPr lang="en-ID" sz="3200" dirty="0" err="1"/>
              <a:t>Mahasiswa</a:t>
            </a:r>
            <a:r>
              <a:rPr lang="en-ID" sz="3200" dirty="0"/>
              <a:t> </a:t>
            </a:r>
            <a:r>
              <a:rPr lang="en-ID" sz="3200" dirty="0" err="1"/>
              <a:t>akan</a:t>
            </a:r>
            <a:r>
              <a:rPr lang="en-ID" sz="3200" dirty="0"/>
              <a:t> </a:t>
            </a:r>
            <a:r>
              <a:rPr lang="en-ID" sz="3200" dirty="0" err="1"/>
              <a:t>mempraktikkan</a:t>
            </a:r>
            <a:r>
              <a:rPr lang="en-ID" sz="3200" dirty="0"/>
              <a:t> </a:t>
            </a:r>
            <a:r>
              <a:rPr lang="en-ID" sz="3200" dirty="0" err="1"/>
              <a:t>perancangan</a:t>
            </a:r>
            <a:r>
              <a:rPr lang="en-ID" sz="3200" dirty="0"/>
              <a:t> API, </a:t>
            </a:r>
            <a:r>
              <a:rPr lang="en-ID" sz="3200" dirty="0" err="1"/>
              <a:t>pembangunan</a:t>
            </a:r>
            <a:r>
              <a:rPr lang="en-ID" sz="3200" dirty="0"/>
              <a:t> backend service, </a:t>
            </a:r>
            <a:r>
              <a:rPr lang="en-ID" sz="3200" dirty="0" err="1"/>
              <a:t>integrasi</a:t>
            </a:r>
            <a:r>
              <a:rPr lang="en-ID" sz="3200" dirty="0"/>
              <a:t> </a:t>
            </a:r>
            <a:r>
              <a:rPr lang="en-ID" sz="3200" dirty="0" err="1"/>
              <a:t>dengan</a:t>
            </a:r>
            <a:r>
              <a:rPr lang="en-ID" sz="3200" dirty="0"/>
              <a:t> frontend, </a:t>
            </a:r>
            <a:r>
              <a:rPr lang="en-ID" sz="3200" dirty="0" err="1"/>
              <a:t>serta</a:t>
            </a:r>
            <a:r>
              <a:rPr lang="en-ID" sz="3200" dirty="0"/>
              <a:t> deployment </a:t>
            </a:r>
            <a:r>
              <a:rPr lang="en-ID" sz="3200" dirty="0" err="1"/>
              <a:t>aplikasi</a:t>
            </a:r>
            <a:r>
              <a:rPr lang="en-ID" sz="3200" dirty="0"/>
              <a:t> </a:t>
            </a:r>
            <a:r>
              <a:rPr lang="en-ID" sz="3200" dirty="0" err="1"/>
              <a:t>sesuai</a:t>
            </a:r>
            <a:r>
              <a:rPr lang="en-ID" sz="3200" dirty="0"/>
              <a:t> </a:t>
            </a:r>
            <a:r>
              <a:rPr lang="en-ID" sz="3200" dirty="0" err="1"/>
              <a:t>standar</a:t>
            </a:r>
            <a:r>
              <a:rPr lang="en-ID" sz="3200" dirty="0"/>
              <a:t> </a:t>
            </a:r>
            <a:r>
              <a:rPr lang="en-ID" sz="3200" dirty="0" err="1"/>
              <a:t>industri</a:t>
            </a:r>
            <a:r>
              <a:rPr lang="en-ID" sz="3200" dirty="0"/>
              <a:t>. </a:t>
            </a:r>
            <a:r>
              <a:rPr lang="en-ID" sz="3200" dirty="0" err="1"/>
              <a:t>Kompetensi</a:t>
            </a:r>
            <a:r>
              <a:rPr lang="en-ID" sz="3200" dirty="0"/>
              <a:t> </a:t>
            </a:r>
            <a:r>
              <a:rPr lang="en-ID" sz="3200" dirty="0" err="1"/>
              <a:t>ini</a:t>
            </a:r>
            <a:r>
              <a:rPr lang="en-ID" sz="3200" dirty="0"/>
              <a:t> </a:t>
            </a:r>
            <a:r>
              <a:rPr lang="en-ID" sz="3200" dirty="0" err="1"/>
              <a:t>merupakan</a:t>
            </a:r>
            <a:r>
              <a:rPr lang="en-ID" sz="3200" dirty="0"/>
              <a:t> </a:t>
            </a:r>
            <a:r>
              <a:rPr lang="en-ID" sz="3200" dirty="0" err="1"/>
              <a:t>kebutuhan</a:t>
            </a:r>
            <a:r>
              <a:rPr lang="en-ID" sz="3200" dirty="0"/>
              <a:t> </a:t>
            </a:r>
            <a:r>
              <a:rPr lang="en-ID" sz="3200" dirty="0" err="1"/>
              <a:t>dasar</a:t>
            </a:r>
            <a:r>
              <a:rPr lang="en-ID" sz="3200" dirty="0"/>
              <a:t> </a:t>
            </a:r>
            <a:r>
              <a:rPr lang="en-ID" sz="3200" dirty="0" err="1"/>
              <a:t>dalam</a:t>
            </a:r>
            <a:r>
              <a:rPr lang="en-ID" sz="3200" dirty="0"/>
              <a:t> dunia </a:t>
            </a:r>
            <a:r>
              <a:rPr lang="en-ID" sz="3200" dirty="0" err="1"/>
              <a:t>kerja</a:t>
            </a:r>
            <a:r>
              <a:rPr lang="en-ID" sz="3200" dirty="0"/>
              <a:t> di </a:t>
            </a:r>
            <a:r>
              <a:rPr lang="en-ID" sz="3200" dirty="0" err="1"/>
              <a:t>bidang</a:t>
            </a:r>
            <a:r>
              <a:rPr lang="en-ID" sz="3200" dirty="0"/>
              <a:t> </a:t>
            </a:r>
            <a:r>
              <a:rPr lang="en-ID" sz="3200" dirty="0" err="1"/>
              <a:t>pengembangan</a:t>
            </a:r>
            <a:r>
              <a:rPr lang="en-ID" sz="3200" dirty="0"/>
              <a:t> </a:t>
            </a:r>
            <a:r>
              <a:rPr lang="en-ID" sz="3200" dirty="0" err="1"/>
              <a:t>perangkat</a:t>
            </a:r>
            <a:r>
              <a:rPr lang="en-ID" sz="3200" dirty="0"/>
              <a:t> </a:t>
            </a:r>
            <a:r>
              <a:rPr lang="en-ID" sz="3200" dirty="0" err="1"/>
              <a:t>lunak</a:t>
            </a:r>
            <a:r>
              <a:rPr lang="en-ID" sz="3200" dirty="0"/>
              <a:t>.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77187C82-3483-EF4B-BFD8-0B8A539921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34800" y="2781300"/>
            <a:ext cx="5524500" cy="5402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5786C1-E6A9-E98B-D54B-9C8D227F9C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4AF5DC4-40AC-3908-49F9-A7957C52C6E0}"/>
              </a:ext>
            </a:extLst>
          </p:cNvPr>
          <p:cNvGrpSpPr/>
          <p:nvPr/>
        </p:nvGrpSpPr>
        <p:grpSpPr>
          <a:xfrm>
            <a:off x="1028700" y="1574847"/>
            <a:ext cx="1856645" cy="68071"/>
            <a:chOff x="0" y="0"/>
            <a:chExt cx="488993" cy="1792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806D4323-9695-F36B-3F6F-56BDC9220BB3}"/>
                </a:ext>
              </a:extLst>
            </p:cNvPr>
            <p:cNvSpPr/>
            <p:nvPr/>
          </p:nvSpPr>
          <p:spPr>
            <a:xfrm>
              <a:off x="0" y="0"/>
              <a:ext cx="488993" cy="17928"/>
            </a:xfrm>
            <a:custGeom>
              <a:avLst/>
              <a:gdLst/>
              <a:ahLst/>
              <a:cxnLst/>
              <a:rect l="l" t="t" r="r" b="b"/>
              <a:pathLst>
                <a:path w="488993" h="17928">
                  <a:moveTo>
                    <a:pt x="0" y="0"/>
                  </a:moveTo>
                  <a:lnTo>
                    <a:pt x="488993" y="0"/>
                  </a:lnTo>
                  <a:lnTo>
                    <a:pt x="488993" y="17928"/>
                  </a:lnTo>
                  <a:lnTo>
                    <a:pt x="0" y="17928"/>
                  </a:lnTo>
                  <a:close/>
                </a:path>
              </a:pathLst>
            </a:custGeom>
            <a:solidFill>
              <a:srgbClr val="F9B314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1DCA53E4-4FC0-C108-5D36-7F6B6AD94AF0}"/>
                </a:ext>
              </a:extLst>
            </p:cNvPr>
            <p:cNvSpPr txBox="1"/>
            <p:nvPr/>
          </p:nvSpPr>
          <p:spPr>
            <a:xfrm>
              <a:off x="0" y="-38100"/>
              <a:ext cx="488993" cy="560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B03CCB10-1D61-DD49-912E-B7A691A41F9C}"/>
              </a:ext>
            </a:extLst>
          </p:cNvPr>
          <p:cNvSpPr/>
          <p:nvPr/>
        </p:nvSpPr>
        <p:spPr>
          <a:xfrm>
            <a:off x="14787351" y="-318930"/>
            <a:ext cx="2185553" cy="2185553"/>
          </a:xfrm>
          <a:custGeom>
            <a:avLst/>
            <a:gdLst/>
            <a:ahLst/>
            <a:cxnLst/>
            <a:rect l="l" t="t" r="r" b="b"/>
            <a:pathLst>
              <a:path w="2185553" h="2185553">
                <a:moveTo>
                  <a:pt x="0" y="0"/>
                </a:moveTo>
                <a:lnTo>
                  <a:pt x="2185553" y="0"/>
                </a:lnTo>
                <a:lnTo>
                  <a:pt x="2185553" y="2185553"/>
                </a:lnTo>
                <a:lnTo>
                  <a:pt x="0" y="21855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1E1601DE-117D-81C5-972D-025B01496DD3}"/>
              </a:ext>
            </a:extLst>
          </p:cNvPr>
          <p:cNvGrpSpPr/>
          <p:nvPr/>
        </p:nvGrpSpPr>
        <p:grpSpPr>
          <a:xfrm>
            <a:off x="14500955" y="1451912"/>
            <a:ext cx="2758345" cy="245871"/>
            <a:chOff x="0" y="0"/>
            <a:chExt cx="726478" cy="64756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A4CB0EFB-522D-0074-2624-EE56E802CA7D}"/>
                </a:ext>
              </a:extLst>
            </p:cNvPr>
            <p:cNvSpPr/>
            <p:nvPr/>
          </p:nvSpPr>
          <p:spPr>
            <a:xfrm>
              <a:off x="0" y="0"/>
              <a:ext cx="726478" cy="64756"/>
            </a:xfrm>
            <a:custGeom>
              <a:avLst/>
              <a:gdLst/>
              <a:ahLst/>
              <a:cxnLst/>
              <a:rect l="l" t="t" r="r" b="b"/>
              <a:pathLst>
                <a:path w="726478" h="64756">
                  <a:moveTo>
                    <a:pt x="0" y="0"/>
                  </a:moveTo>
                  <a:lnTo>
                    <a:pt x="726478" y="0"/>
                  </a:lnTo>
                  <a:lnTo>
                    <a:pt x="726478" y="64756"/>
                  </a:lnTo>
                  <a:lnTo>
                    <a:pt x="0" y="64756"/>
                  </a:lnTo>
                  <a:close/>
                </a:path>
              </a:pathLst>
            </a:custGeom>
            <a:solidFill>
              <a:srgbClr val="F9B314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5DD4879B-7840-DA11-0AB1-28DF915A73C0}"/>
                </a:ext>
              </a:extLst>
            </p:cNvPr>
            <p:cNvSpPr txBox="1"/>
            <p:nvPr/>
          </p:nvSpPr>
          <p:spPr>
            <a:xfrm>
              <a:off x="0" y="-38100"/>
              <a:ext cx="726478" cy="1028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TextBox 10">
            <a:extLst>
              <a:ext uri="{FF2B5EF4-FFF2-40B4-BE49-F238E27FC236}">
                <a16:creationId xmlns:a16="http://schemas.microsoft.com/office/drawing/2014/main" id="{9E7F00A8-99C7-2457-65FE-578CD89E454E}"/>
              </a:ext>
            </a:extLst>
          </p:cNvPr>
          <p:cNvSpPr txBox="1"/>
          <p:nvPr/>
        </p:nvSpPr>
        <p:spPr>
          <a:xfrm>
            <a:off x="1028700" y="1971398"/>
            <a:ext cx="5922266" cy="529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947"/>
              </a:lnSpc>
            </a:pPr>
            <a:r>
              <a:rPr lang="en-US" sz="4200" dirty="0">
                <a:solidFill>
                  <a:srgbClr val="1211CA"/>
                </a:solidFill>
                <a:latin typeface="Montserrat Heavy"/>
              </a:rPr>
              <a:t>Cara </a:t>
            </a:r>
            <a:r>
              <a:rPr lang="en-US" sz="4200" dirty="0" err="1">
                <a:solidFill>
                  <a:srgbClr val="1211CA"/>
                </a:solidFill>
                <a:latin typeface="Montserrat Heavy"/>
              </a:rPr>
              <a:t>Kerja</a:t>
            </a:r>
            <a:endParaRPr lang="en-US" sz="4200" dirty="0">
              <a:solidFill>
                <a:srgbClr val="1211CA"/>
              </a:solidFill>
              <a:latin typeface="Montserrat Heavy"/>
            </a:endParaRP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EFE52E70-60EA-9FFD-4694-477D7C65BA10}"/>
              </a:ext>
            </a:extLst>
          </p:cNvPr>
          <p:cNvSpPr txBox="1"/>
          <p:nvPr/>
        </p:nvSpPr>
        <p:spPr>
          <a:xfrm>
            <a:off x="3352800" y="1979783"/>
            <a:ext cx="5922266" cy="529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947"/>
              </a:lnSpc>
            </a:pPr>
            <a:r>
              <a:rPr lang="en-US" sz="4200" dirty="0">
                <a:solidFill>
                  <a:srgbClr val="F9B314"/>
                </a:solidFill>
                <a:latin typeface="Montserrat Heavy"/>
              </a:rPr>
              <a:t>Web Service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6804FFA7-47CC-CE82-3236-3F57D7232F67}"/>
              </a:ext>
            </a:extLst>
          </p:cNvPr>
          <p:cNvSpPr txBox="1"/>
          <p:nvPr/>
        </p:nvSpPr>
        <p:spPr>
          <a:xfrm>
            <a:off x="1028700" y="981075"/>
            <a:ext cx="7042449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359"/>
              </a:lnSpc>
            </a:pPr>
            <a:r>
              <a:rPr lang="en-US" sz="2400">
                <a:solidFill>
                  <a:srgbClr val="101010"/>
                </a:solidFill>
                <a:latin typeface="Montserrat Classic Bold"/>
              </a:rPr>
              <a:t>Universitas Logistik dan Bisnis Internasional</a:t>
            </a:r>
          </a:p>
        </p:txBody>
      </p:sp>
      <p:pic>
        <p:nvPicPr>
          <p:cNvPr id="1028" name="Picture 4" descr="Utility Computing &amp; Web Service beserta contoh | Pembelajaran Teknik  Informatika">
            <a:extLst>
              <a:ext uri="{FF2B5EF4-FFF2-40B4-BE49-F238E27FC236}">
                <a16:creationId xmlns:a16="http://schemas.microsoft.com/office/drawing/2014/main" id="{1A73B643-38B1-20D3-7FDA-C3CCE1B5F3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5850" y="3132152"/>
            <a:ext cx="8496300" cy="58255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597230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7EB606-CC96-0D0C-A2E5-CBB06FFDF1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6DE9D3E9-5530-3CF5-8EA1-90E31758D626}"/>
              </a:ext>
            </a:extLst>
          </p:cNvPr>
          <p:cNvGrpSpPr/>
          <p:nvPr/>
        </p:nvGrpSpPr>
        <p:grpSpPr>
          <a:xfrm>
            <a:off x="1028700" y="1574847"/>
            <a:ext cx="1856645" cy="68071"/>
            <a:chOff x="0" y="0"/>
            <a:chExt cx="488993" cy="1792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7FF43E2-0A71-6B41-F0C2-5FF1D5EB9FF2}"/>
                </a:ext>
              </a:extLst>
            </p:cNvPr>
            <p:cNvSpPr/>
            <p:nvPr/>
          </p:nvSpPr>
          <p:spPr>
            <a:xfrm>
              <a:off x="0" y="0"/>
              <a:ext cx="488993" cy="17928"/>
            </a:xfrm>
            <a:custGeom>
              <a:avLst/>
              <a:gdLst/>
              <a:ahLst/>
              <a:cxnLst/>
              <a:rect l="l" t="t" r="r" b="b"/>
              <a:pathLst>
                <a:path w="488993" h="17928">
                  <a:moveTo>
                    <a:pt x="0" y="0"/>
                  </a:moveTo>
                  <a:lnTo>
                    <a:pt x="488993" y="0"/>
                  </a:lnTo>
                  <a:lnTo>
                    <a:pt x="488993" y="17928"/>
                  </a:lnTo>
                  <a:lnTo>
                    <a:pt x="0" y="17928"/>
                  </a:lnTo>
                  <a:close/>
                </a:path>
              </a:pathLst>
            </a:custGeom>
            <a:solidFill>
              <a:srgbClr val="F9B314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5EA33565-88C1-BD2D-A756-09296E9069F1}"/>
                </a:ext>
              </a:extLst>
            </p:cNvPr>
            <p:cNvSpPr txBox="1"/>
            <p:nvPr/>
          </p:nvSpPr>
          <p:spPr>
            <a:xfrm>
              <a:off x="0" y="-38100"/>
              <a:ext cx="488993" cy="560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FED36713-9D9D-452A-AD87-8416F99328EB}"/>
              </a:ext>
            </a:extLst>
          </p:cNvPr>
          <p:cNvSpPr/>
          <p:nvPr/>
        </p:nvSpPr>
        <p:spPr>
          <a:xfrm>
            <a:off x="14787351" y="-318930"/>
            <a:ext cx="2185553" cy="2185553"/>
          </a:xfrm>
          <a:custGeom>
            <a:avLst/>
            <a:gdLst/>
            <a:ahLst/>
            <a:cxnLst/>
            <a:rect l="l" t="t" r="r" b="b"/>
            <a:pathLst>
              <a:path w="2185553" h="2185553">
                <a:moveTo>
                  <a:pt x="0" y="0"/>
                </a:moveTo>
                <a:lnTo>
                  <a:pt x="2185553" y="0"/>
                </a:lnTo>
                <a:lnTo>
                  <a:pt x="2185553" y="2185553"/>
                </a:lnTo>
                <a:lnTo>
                  <a:pt x="0" y="21855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83ED5AD3-2F39-B225-73D6-5D146C7D0996}"/>
              </a:ext>
            </a:extLst>
          </p:cNvPr>
          <p:cNvGrpSpPr/>
          <p:nvPr/>
        </p:nvGrpSpPr>
        <p:grpSpPr>
          <a:xfrm>
            <a:off x="14500955" y="1451912"/>
            <a:ext cx="2758345" cy="245871"/>
            <a:chOff x="0" y="0"/>
            <a:chExt cx="726478" cy="64756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C40A970F-3A9F-E76C-F2FE-54158DA846CB}"/>
                </a:ext>
              </a:extLst>
            </p:cNvPr>
            <p:cNvSpPr/>
            <p:nvPr/>
          </p:nvSpPr>
          <p:spPr>
            <a:xfrm>
              <a:off x="0" y="0"/>
              <a:ext cx="726478" cy="64756"/>
            </a:xfrm>
            <a:custGeom>
              <a:avLst/>
              <a:gdLst/>
              <a:ahLst/>
              <a:cxnLst/>
              <a:rect l="l" t="t" r="r" b="b"/>
              <a:pathLst>
                <a:path w="726478" h="64756">
                  <a:moveTo>
                    <a:pt x="0" y="0"/>
                  </a:moveTo>
                  <a:lnTo>
                    <a:pt x="726478" y="0"/>
                  </a:lnTo>
                  <a:lnTo>
                    <a:pt x="726478" y="64756"/>
                  </a:lnTo>
                  <a:lnTo>
                    <a:pt x="0" y="64756"/>
                  </a:lnTo>
                  <a:close/>
                </a:path>
              </a:pathLst>
            </a:custGeom>
            <a:solidFill>
              <a:srgbClr val="F9B314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27620E99-8064-9FB2-0ACB-CE3DFA9D9151}"/>
                </a:ext>
              </a:extLst>
            </p:cNvPr>
            <p:cNvSpPr txBox="1"/>
            <p:nvPr/>
          </p:nvSpPr>
          <p:spPr>
            <a:xfrm>
              <a:off x="0" y="-38100"/>
              <a:ext cx="726478" cy="1028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TextBox 10">
            <a:extLst>
              <a:ext uri="{FF2B5EF4-FFF2-40B4-BE49-F238E27FC236}">
                <a16:creationId xmlns:a16="http://schemas.microsoft.com/office/drawing/2014/main" id="{B9FDB7F5-3AEF-1EBB-3995-51C3858D916A}"/>
              </a:ext>
            </a:extLst>
          </p:cNvPr>
          <p:cNvSpPr txBox="1"/>
          <p:nvPr/>
        </p:nvSpPr>
        <p:spPr>
          <a:xfrm>
            <a:off x="1028700" y="1971398"/>
            <a:ext cx="5922266" cy="529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947"/>
              </a:lnSpc>
            </a:pPr>
            <a:r>
              <a:rPr lang="en-US" sz="4200" dirty="0">
                <a:solidFill>
                  <a:srgbClr val="1211CA"/>
                </a:solidFill>
                <a:latin typeface="Montserrat Heavy"/>
              </a:rPr>
              <a:t>Cara </a:t>
            </a:r>
            <a:r>
              <a:rPr lang="en-US" sz="4200" dirty="0" err="1">
                <a:solidFill>
                  <a:srgbClr val="1211CA"/>
                </a:solidFill>
                <a:latin typeface="Montserrat Heavy"/>
              </a:rPr>
              <a:t>Kerja</a:t>
            </a:r>
            <a:endParaRPr lang="en-US" sz="4200" dirty="0">
              <a:solidFill>
                <a:srgbClr val="1211CA"/>
              </a:solidFill>
              <a:latin typeface="Montserrat Heavy"/>
            </a:endParaRP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ECE7FC40-3A5E-C545-AEDE-A307580D67A6}"/>
              </a:ext>
            </a:extLst>
          </p:cNvPr>
          <p:cNvSpPr txBox="1"/>
          <p:nvPr/>
        </p:nvSpPr>
        <p:spPr>
          <a:xfrm>
            <a:off x="3352800" y="1979783"/>
            <a:ext cx="5922266" cy="529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947"/>
              </a:lnSpc>
            </a:pPr>
            <a:r>
              <a:rPr lang="en-US" sz="4200" dirty="0">
                <a:solidFill>
                  <a:srgbClr val="F9B314"/>
                </a:solidFill>
                <a:latin typeface="Montserrat Heavy"/>
              </a:rPr>
              <a:t>Web Service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6190E399-A5A8-13EE-B9A5-E15B8E77EF58}"/>
              </a:ext>
            </a:extLst>
          </p:cNvPr>
          <p:cNvSpPr txBox="1"/>
          <p:nvPr/>
        </p:nvSpPr>
        <p:spPr>
          <a:xfrm>
            <a:off x="1028700" y="981075"/>
            <a:ext cx="7042449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359"/>
              </a:lnSpc>
            </a:pPr>
            <a:r>
              <a:rPr lang="en-US" sz="2400">
                <a:solidFill>
                  <a:srgbClr val="101010"/>
                </a:solidFill>
                <a:latin typeface="Montserrat Classic Bold"/>
              </a:rPr>
              <a:t>Universitas Logistik dan Bisnis Internasional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E1CE36A-A668-FCC0-BF76-D5661581FB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699" y="3120156"/>
            <a:ext cx="5035011" cy="209954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D1049B8-2BDB-9B90-B9FB-CFDB414FC753}"/>
              </a:ext>
            </a:extLst>
          </p:cNvPr>
          <p:cNvSpPr txBox="1"/>
          <p:nvPr/>
        </p:nvSpPr>
        <p:spPr>
          <a:xfrm>
            <a:off x="1028700" y="2550682"/>
            <a:ext cx="3162300" cy="5055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sz="2999" dirty="0">
                <a:solidFill>
                  <a:srgbClr val="2D262A"/>
                </a:solidFill>
                <a:latin typeface="Montserrat Classic"/>
              </a:rPr>
              <a:t>Request </a:t>
            </a:r>
            <a:r>
              <a:rPr lang="en-US" sz="2999" dirty="0" err="1">
                <a:solidFill>
                  <a:srgbClr val="2D262A"/>
                </a:solidFill>
                <a:latin typeface="Montserrat Classic"/>
              </a:rPr>
              <a:t>dari</a:t>
            </a:r>
            <a:r>
              <a:rPr lang="en-US" sz="2999" dirty="0">
                <a:solidFill>
                  <a:srgbClr val="2D262A"/>
                </a:solidFill>
                <a:latin typeface="Montserrat Classic"/>
              </a:rPr>
              <a:t> client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D6E1DE5-E308-0DF8-0424-B67683E61D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50606" y="3120156"/>
            <a:ext cx="6650935" cy="617941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328DD529-0016-37F0-821A-50B5DAAFD8C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8699" y="6149786"/>
            <a:ext cx="8373375" cy="243840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6E8BD9C7-4555-4208-FF16-A03B035174E9}"/>
              </a:ext>
            </a:extLst>
          </p:cNvPr>
          <p:cNvSpPr txBox="1"/>
          <p:nvPr/>
        </p:nvSpPr>
        <p:spPr>
          <a:xfrm>
            <a:off x="1028700" y="5578101"/>
            <a:ext cx="3162300" cy="5055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sz="2999" dirty="0">
                <a:solidFill>
                  <a:srgbClr val="2D262A"/>
                </a:solidFill>
                <a:latin typeface="Montserrat Classic"/>
              </a:rPr>
              <a:t>Jika login </a:t>
            </a:r>
            <a:r>
              <a:rPr lang="en-US" sz="2999" dirty="0" err="1">
                <a:solidFill>
                  <a:srgbClr val="2D262A"/>
                </a:solidFill>
                <a:latin typeface="Montserrat Classic"/>
              </a:rPr>
              <a:t>gagal</a:t>
            </a:r>
            <a:endParaRPr lang="en-US" sz="2999" dirty="0">
              <a:solidFill>
                <a:srgbClr val="2D262A"/>
              </a:solidFill>
              <a:latin typeface="Montserrat Classic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393278B-45A4-F9B4-474F-40010F39D20B}"/>
              </a:ext>
            </a:extLst>
          </p:cNvPr>
          <p:cNvSpPr txBox="1"/>
          <p:nvPr/>
        </p:nvSpPr>
        <p:spPr>
          <a:xfrm>
            <a:off x="10650606" y="2614633"/>
            <a:ext cx="3162300" cy="5055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sz="2999" dirty="0">
                <a:solidFill>
                  <a:srgbClr val="2D262A"/>
                </a:solidFill>
                <a:latin typeface="Montserrat Classic"/>
              </a:rPr>
              <a:t>Jika login </a:t>
            </a:r>
            <a:r>
              <a:rPr lang="en-US" sz="2999" dirty="0" err="1">
                <a:solidFill>
                  <a:srgbClr val="2D262A"/>
                </a:solidFill>
                <a:latin typeface="Montserrat Classic"/>
              </a:rPr>
              <a:t>berhasil</a:t>
            </a:r>
            <a:endParaRPr lang="en-US" sz="2999" dirty="0">
              <a:solidFill>
                <a:srgbClr val="2D262A"/>
              </a:solidFill>
              <a:latin typeface="Montserrat Classic"/>
            </a:endParaRPr>
          </a:p>
        </p:txBody>
      </p:sp>
    </p:spTree>
    <p:extLst>
      <p:ext uri="{BB962C8B-B14F-4D97-AF65-F5344CB8AC3E}">
        <p14:creationId xmlns:p14="http://schemas.microsoft.com/office/powerpoint/2010/main" val="3670311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2562652"/>
            <a:ext cx="16213764" cy="59284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3390" lvl="1" indent="-226695">
              <a:lnSpc>
                <a:spcPts val="2940"/>
              </a:lnSpc>
              <a:buFont typeface="Arial"/>
              <a:buChar char="•"/>
            </a:pPr>
            <a:r>
              <a:rPr lang="en-US" sz="2100" dirty="0">
                <a:solidFill>
                  <a:srgbClr val="1211CA"/>
                </a:solidFill>
                <a:latin typeface="Montserrat Classic Bold"/>
              </a:rPr>
              <a:t>Testing Public API</a:t>
            </a:r>
          </a:p>
          <a:p>
            <a:pPr marL="453390" lvl="1" indent="-226695">
              <a:lnSpc>
                <a:spcPts val="2940"/>
              </a:lnSpc>
              <a:buFont typeface="Arial"/>
              <a:buChar char="•"/>
            </a:pPr>
            <a:r>
              <a:rPr lang="en-US" sz="2100" dirty="0" err="1">
                <a:solidFill>
                  <a:srgbClr val="1211CA"/>
                </a:solidFill>
                <a:latin typeface="Montserrat Classic Bold"/>
              </a:rPr>
              <a:t>Membuat</a:t>
            </a:r>
            <a:r>
              <a:rPr lang="en-US" sz="2100" dirty="0">
                <a:solidFill>
                  <a:srgbClr val="1211CA"/>
                </a:solidFill>
                <a:latin typeface="Montserrat Classic Bold"/>
              </a:rPr>
              <a:t> Service (Backend)</a:t>
            </a:r>
          </a:p>
          <a:p>
            <a:pPr marL="910590" lvl="2" indent="-226695">
              <a:lnSpc>
                <a:spcPts val="2940"/>
              </a:lnSpc>
              <a:buFont typeface="Arial"/>
              <a:buChar char="•"/>
            </a:pPr>
            <a:r>
              <a:rPr lang="en-US" sz="2100" dirty="0">
                <a:solidFill>
                  <a:srgbClr val="000000"/>
                </a:solidFill>
                <a:latin typeface="Montserrat Classic Bold"/>
              </a:rPr>
              <a:t>Go Lang (Fiber framework)</a:t>
            </a:r>
            <a:endParaRPr lang="en-US" sz="2100" dirty="0">
              <a:solidFill>
                <a:srgbClr val="1211CA"/>
              </a:solidFill>
              <a:latin typeface="Montserrat Classic Bold"/>
            </a:endParaRPr>
          </a:p>
          <a:p>
            <a:pPr marL="453390" lvl="1" indent="-226695">
              <a:lnSpc>
                <a:spcPts val="2940"/>
              </a:lnSpc>
              <a:buFont typeface="Arial"/>
              <a:buChar char="•"/>
            </a:pPr>
            <a:r>
              <a:rPr lang="en-US" sz="2100" dirty="0" err="1">
                <a:solidFill>
                  <a:srgbClr val="1211CA"/>
                </a:solidFill>
                <a:latin typeface="Montserrat Classic Bold"/>
              </a:rPr>
              <a:t>Membuat</a:t>
            </a:r>
            <a:r>
              <a:rPr lang="en-US" sz="2100" dirty="0">
                <a:solidFill>
                  <a:srgbClr val="1211CA"/>
                </a:solidFill>
                <a:latin typeface="Montserrat Classic Bold"/>
              </a:rPr>
              <a:t> Client (Frontend)</a:t>
            </a:r>
          </a:p>
          <a:p>
            <a:pPr marL="910590" lvl="2" indent="-226695">
              <a:lnSpc>
                <a:spcPts val="2940"/>
              </a:lnSpc>
              <a:buFont typeface="Arial"/>
              <a:buChar char="•"/>
            </a:pPr>
            <a:r>
              <a:rPr lang="en-US" sz="2100" dirty="0">
                <a:latin typeface="Montserrat Classic Bold"/>
              </a:rPr>
              <a:t>React JS</a:t>
            </a:r>
          </a:p>
          <a:p>
            <a:pPr marL="453390" lvl="1" indent="-226695">
              <a:lnSpc>
                <a:spcPts val="2940"/>
              </a:lnSpc>
              <a:buFont typeface="Arial"/>
              <a:buChar char="•"/>
            </a:pPr>
            <a:r>
              <a:rPr lang="en-US" sz="2100" dirty="0">
                <a:solidFill>
                  <a:srgbClr val="1211CA"/>
                </a:solidFill>
                <a:latin typeface="Montserrat Classic Bold"/>
              </a:rPr>
              <a:t>Deploy Backend</a:t>
            </a:r>
          </a:p>
          <a:p>
            <a:pPr marL="910590" lvl="2" indent="-226695">
              <a:lnSpc>
                <a:spcPts val="2940"/>
              </a:lnSpc>
              <a:buFont typeface="Arial"/>
              <a:buChar char="•"/>
            </a:pPr>
            <a:r>
              <a:rPr lang="en-US" sz="2100" dirty="0">
                <a:solidFill>
                  <a:srgbClr val="000000"/>
                </a:solidFill>
                <a:latin typeface="Montserrat Classic Bold"/>
              </a:rPr>
              <a:t>Railway / </a:t>
            </a:r>
            <a:r>
              <a:rPr lang="en-US" sz="2100" dirty="0" err="1">
                <a:solidFill>
                  <a:srgbClr val="000000"/>
                </a:solidFill>
                <a:latin typeface="Montserrat Classic Bold"/>
              </a:rPr>
              <a:t>Koyeb</a:t>
            </a:r>
            <a:r>
              <a:rPr lang="en-US" sz="2100" dirty="0">
                <a:solidFill>
                  <a:srgbClr val="000000"/>
                </a:solidFill>
                <a:latin typeface="Montserrat Classic Bold"/>
              </a:rPr>
              <a:t> / </a:t>
            </a:r>
            <a:r>
              <a:rPr lang="en-US" sz="2100" dirty="0" err="1">
                <a:solidFill>
                  <a:srgbClr val="000000"/>
                </a:solidFill>
                <a:latin typeface="Montserrat Classic Bold"/>
              </a:rPr>
              <a:t>dll</a:t>
            </a:r>
            <a:endParaRPr lang="en-US" sz="2100" dirty="0">
              <a:solidFill>
                <a:srgbClr val="000000"/>
              </a:solidFill>
              <a:latin typeface="Montserrat Classic Bold"/>
            </a:endParaRPr>
          </a:p>
          <a:p>
            <a:pPr marL="453390" lvl="1" indent="-226695">
              <a:lnSpc>
                <a:spcPts val="2940"/>
              </a:lnSpc>
              <a:buFont typeface="Arial"/>
              <a:buChar char="•"/>
            </a:pPr>
            <a:r>
              <a:rPr lang="en-US" sz="2100" dirty="0">
                <a:solidFill>
                  <a:srgbClr val="1211CA"/>
                </a:solidFill>
                <a:latin typeface="Montserrat Classic Bold"/>
              </a:rPr>
              <a:t>Deploy Frontend</a:t>
            </a:r>
          </a:p>
          <a:p>
            <a:pPr marL="910590" lvl="2" indent="-226695">
              <a:lnSpc>
                <a:spcPts val="2940"/>
              </a:lnSpc>
              <a:buFont typeface="Arial"/>
              <a:buChar char="•"/>
            </a:pPr>
            <a:r>
              <a:rPr lang="en-US" sz="2100" dirty="0" err="1">
                <a:solidFill>
                  <a:srgbClr val="000000"/>
                </a:solidFill>
                <a:latin typeface="Montserrat Classic Bold"/>
              </a:rPr>
              <a:t>Vercel</a:t>
            </a:r>
            <a:r>
              <a:rPr lang="en-US" sz="2100" dirty="0">
                <a:solidFill>
                  <a:srgbClr val="000000"/>
                </a:solidFill>
                <a:latin typeface="Montserrat Classic Bold"/>
              </a:rPr>
              <a:t> / </a:t>
            </a:r>
            <a:r>
              <a:rPr lang="en-US" sz="2100" dirty="0" err="1">
                <a:solidFill>
                  <a:srgbClr val="000000"/>
                </a:solidFill>
                <a:latin typeface="Montserrat Classic Bold"/>
              </a:rPr>
              <a:t>Github</a:t>
            </a:r>
            <a:r>
              <a:rPr lang="en-US" sz="2100" dirty="0">
                <a:solidFill>
                  <a:srgbClr val="000000"/>
                </a:solidFill>
                <a:latin typeface="Montserrat Classic Bold"/>
              </a:rPr>
              <a:t> Pages / </a:t>
            </a:r>
            <a:r>
              <a:rPr lang="en-US" sz="2100" dirty="0" err="1">
                <a:solidFill>
                  <a:srgbClr val="000000"/>
                </a:solidFill>
                <a:latin typeface="Montserrat Classic Bold"/>
              </a:rPr>
              <a:t>dll</a:t>
            </a:r>
            <a:endParaRPr lang="en-US" sz="2100" dirty="0">
              <a:solidFill>
                <a:srgbClr val="000000"/>
              </a:solidFill>
              <a:latin typeface="Montserrat Classic Bold"/>
            </a:endParaRPr>
          </a:p>
          <a:p>
            <a:pPr marL="453390" lvl="1" indent="-226695">
              <a:lnSpc>
                <a:spcPts val="2940"/>
              </a:lnSpc>
              <a:buFont typeface="Arial"/>
              <a:buChar char="•"/>
            </a:pPr>
            <a:r>
              <a:rPr lang="en-US" sz="2100" dirty="0">
                <a:solidFill>
                  <a:srgbClr val="1211CA"/>
                </a:solidFill>
                <a:latin typeface="Montserrat Classic Bold"/>
              </a:rPr>
              <a:t>Database</a:t>
            </a:r>
          </a:p>
          <a:p>
            <a:pPr marL="910590" lvl="2" indent="-226695">
              <a:lnSpc>
                <a:spcPts val="2940"/>
              </a:lnSpc>
              <a:buFont typeface="Arial"/>
              <a:buChar char="•"/>
            </a:pPr>
            <a:r>
              <a:rPr lang="en-US" sz="2100" dirty="0">
                <a:solidFill>
                  <a:srgbClr val="000000"/>
                </a:solidFill>
                <a:latin typeface="Montserrat Classic Bold"/>
              </a:rPr>
              <a:t>PostgreSQL</a:t>
            </a:r>
            <a:endParaRPr lang="en-US" sz="2100" dirty="0">
              <a:solidFill>
                <a:srgbClr val="1211CA"/>
              </a:solidFill>
              <a:latin typeface="Montserrat Classic Bold"/>
            </a:endParaRPr>
          </a:p>
          <a:p>
            <a:pPr marL="453390" lvl="1" indent="-226695">
              <a:lnSpc>
                <a:spcPts val="2940"/>
              </a:lnSpc>
              <a:buFont typeface="Arial"/>
              <a:buChar char="•"/>
            </a:pPr>
            <a:r>
              <a:rPr lang="en-US" sz="2100" dirty="0" err="1">
                <a:solidFill>
                  <a:srgbClr val="1211CA"/>
                </a:solidFill>
                <a:latin typeface="Montserrat Classic Bold"/>
              </a:rPr>
              <a:t>Autentikasi</a:t>
            </a:r>
            <a:endParaRPr lang="en-US" sz="2100" dirty="0">
              <a:solidFill>
                <a:srgbClr val="000000"/>
              </a:solidFill>
              <a:latin typeface="Montserrat Classic Bold"/>
            </a:endParaRPr>
          </a:p>
          <a:p>
            <a:pPr marL="910590" lvl="2" indent="-226695">
              <a:lnSpc>
                <a:spcPts val="2940"/>
              </a:lnSpc>
              <a:buFont typeface="Arial"/>
              <a:buChar char="•"/>
            </a:pPr>
            <a:r>
              <a:rPr lang="en-US" sz="2100" dirty="0">
                <a:solidFill>
                  <a:srgbClr val="000000"/>
                </a:solidFill>
                <a:latin typeface="Montserrat Classic Bold"/>
              </a:rPr>
              <a:t>JWT</a:t>
            </a:r>
          </a:p>
          <a:p>
            <a:pPr marL="453390" lvl="1" indent="-226695">
              <a:lnSpc>
                <a:spcPts val="2940"/>
              </a:lnSpc>
              <a:buFont typeface="Arial"/>
              <a:buChar char="•"/>
            </a:pPr>
            <a:r>
              <a:rPr lang="en-US" sz="2100" dirty="0" err="1">
                <a:solidFill>
                  <a:srgbClr val="1211CA"/>
                </a:solidFill>
                <a:latin typeface="Montserrat Classic Bold"/>
              </a:rPr>
              <a:t>Membuat</a:t>
            </a:r>
            <a:r>
              <a:rPr lang="en-US" sz="2100" dirty="0">
                <a:solidFill>
                  <a:srgbClr val="1211CA"/>
                </a:solidFill>
                <a:latin typeface="Montserrat Classic Bold"/>
              </a:rPr>
              <a:t> </a:t>
            </a:r>
            <a:r>
              <a:rPr lang="en-US" sz="2100" dirty="0" err="1">
                <a:solidFill>
                  <a:srgbClr val="1211CA"/>
                </a:solidFill>
                <a:latin typeface="Montserrat Classic Bold"/>
              </a:rPr>
              <a:t>Dokumentasi</a:t>
            </a:r>
            <a:r>
              <a:rPr lang="en-US" sz="2100" dirty="0">
                <a:solidFill>
                  <a:srgbClr val="1211CA"/>
                </a:solidFill>
                <a:latin typeface="Montserrat Classic Bold"/>
              </a:rPr>
              <a:t> API</a:t>
            </a:r>
          </a:p>
          <a:p>
            <a:pPr marL="910590" lvl="2" indent="-226695">
              <a:lnSpc>
                <a:spcPts val="2940"/>
              </a:lnSpc>
              <a:buFont typeface="Arial"/>
              <a:buChar char="•"/>
            </a:pPr>
            <a:r>
              <a:rPr lang="en-US" sz="2100" dirty="0">
                <a:solidFill>
                  <a:srgbClr val="000000"/>
                </a:solidFill>
                <a:latin typeface="Montserrat Classic Bold"/>
              </a:rPr>
              <a:t>Swagger</a:t>
            </a:r>
          </a:p>
          <a:p>
            <a:pPr marL="453390" lvl="1" indent="-226695">
              <a:lnSpc>
                <a:spcPts val="2940"/>
              </a:lnSpc>
              <a:buFont typeface="Arial"/>
              <a:buChar char="•"/>
            </a:pPr>
            <a:r>
              <a:rPr lang="en-US" sz="2100" dirty="0" err="1">
                <a:solidFill>
                  <a:srgbClr val="1211CA"/>
                </a:solidFill>
                <a:latin typeface="Montserrat Classic Bold"/>
              </a:rPr>
              <a:t>Tugas</a:t>
            </a:r>
            <a:r>
              <a:rPr lang="en-US" sz="2100" dirty="0">
                <a:solidFill>
                  <a:srgbClr val="1211CA"/>
                </a:solidFill>
                <a:latin typeface="Montserrat Classic Bold"/>
              </a:rPr>
              <a:t> </a:t>
            </a:r>
            <a:r>
              <a:rPr lang="en-US" sz="2100" dirty="0" err="1">
                <a:solidFill>
                  <a:srgbClr val="1211CA"/>
                </a:solidFill>
                <a:latin typeface="Montserrat Classic Bold"/>
              </a:rPr>
              <a:t>Besar</a:t>
            </a:r>
            <a:endParaRPr lang="en-US" sz="2100" dirty="0">
              <a:solidFill>
                <a:srgbClr val="1211CA"/>
              </a:solidFill>
              <a:latin typeface="Montserrat Classic Bold"/>
            </a:endParaRPr>
          </a:p>
        </p:txBody>
      </p:sp>
      <p:grpSp>
        <p:nvGrpSpPr>
          <p:cNvPr id="3" name="Group 3"/>
          <p:cNvGrpSpPr/>
          <p:nvPr/>
        </p:nvGrpSpPr>
        <p:grpSpPr>
          <a:xfrm>
            <a:off x="1028700" y="1574847"/>
            <a:ext cx="1856645" cy="68071"/>
            <a:chOff x="0" y="0"/>
            <a:chExt cx="488993" cy="1792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8993" cy="17928"/>
            </a:xfrm>
            <a:custGeom>
              <a:avLst/>
              <a:gdLst/>
              <a:ahLst/>
              <a:cxnLst/>
              <a:rect l="l" t="t" r="r" b="b"/>
              <a:pathLst>
                <a:path w="488993" h="17928">
                  <a:moveTo>
                    <a:pt x="0" y="0"/>
                  </a:moveTo>
                  <a:lnTo>
                    <a:pt x="488993" y="0"/>
                  </a:lnTo>
                  <a:lnTo>
                    <a:pt x="488993" y="17928"/>
                  </a:lnTo>
                  <a:lnTo>
                    <a:pt x="0" y="17928"/>
                  </a:lnTo>
                  <a:close/>
                </a:path>
              </a:pathLst>
            </a:custGeom>
            <a:solidFill>
              <a:srgbClr val="F9B314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88993" cy="560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4787351" y="-318930"/>
            <a:ext cx="2185553" cy="2185553"/>
          </a:xfrm>
          <a:custGeom>
            <a:avLst/>
            <a:gdLst/>
            <a:ahLst/>
            <a:cxnLst/>
            <a:rect l="l" t="t" r="r" b="b"/>
            <a:pathLst>
              <a:path w="2185553" h="2185553">
                <a:moveTo>
                  <a:pt x="0" y="0"/>
                </a:moveTo>
                <a:lnTo>
                  <a:pt x="2185553" y="0"/>
                </a:lnTo>
                <a:lnTo>
                  <a:pt x="2185553" y="2185553"/>
                </a:lnTo>
                <a:lnTo>
                  <a:pt x="0" y="21855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grpSp>
        <p:nvGrpSpPr>
          <p:cNvPr id="7" name="Group 7"/>
          <p:cNvGrpSpPr/>
          <p:nvPr/>
        </p:nvGrpSpPr>
        <p:grpSpPr>
          <a:xfrm>
            <a:off x="14500955" y="1451912"/>
            <a:ext cx="2758345" cy="245871"/>
            <a:chOff x="0" y="0"/>
            <a:chExt cx="726478" cy="6475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726478" cy="64756"/>
            </a:xfrm>
            <a:custGeom>
              <a:avLst/>
              <a:gdLst/>
              <a:ahLst/>
              <a:cxnLst/>
              <a:rect l="l" t="t" r="r" b="b"/>
              <a:pathLst>
                <a:path w="726478" h="64756">
                  <a:moveTo>
                    <a:pt x="0" y="0"/>
                  </a:moveTo>
                  <a:lnTo>
                    <a:pt x="726478" y="0"/>
                  </a:lnTo>
                  <a:lnTo>
                    <a:pt x="726478" y="64756"/>
                  </a:lnTo>
                  <a:lnTo>
                    <a:pt x="0" y="64756"/>
                  </a:lnTo>
                  <a:close/>
                </a:path>
              </a:pathLst>
            </a:custGeom>
            <a:solidFill>
              <a:srgbClr val="F9B314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726478" cy="1028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028700" y="1938193"/>
            <a:ext cx="6448950" cy="529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947"/>
              </a:lnSpc>
            </a:pPr>
            <a:r>
              <a:rPr lang="en-US" sz="4200" dirty="0" err="1">
                <a:solidFill>
                  <a:srgbClr val="1211CA"/>
                </a:solidFill>
                <a:latin typeface="Montserrat Heavy"/>
              </a:rPr>
              <a:t>Pokok-Pokok</a:t>
            </a:r>
            <a:endParaRPr lang="en-US" sz="4200" dirty="0">
              <a:solidFill>
                <a:srgbClr val="1211CA"/>
              </a:solidFill>
              <a:latin typeface="Montserrat Heavy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3886200" y="1938192"/>
            <a:ext cx="6448950" cy="529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947"/>
              </a:lnSpc>
            </a:pPr>
            <a:r>
              <a:rPr lang="en-US" sz="4200" dirty="0" err="1">
                <a:solidFill>
                  <a:srgbClr val="F9B314"/>
                </a:solidFill>
                <a:latin typeface="Montserrat Heavy"/>
              </a:rPr>
              <a:t>Materi</a:t>
            </a:r>
            <a:r>
              <a:rPr lang="en-US" sz="4200" dirty="0">
                <a:solidFill>
                  <a:srgbClr val="F9B314"/>
                </a:solidFill>
                <a:latin typeface="Montserrat Heavy"/>
              </a:rPr>
              <a:t> </a:t>
            </a:r>
            <a:r>
              <a:rPr lang="en-US" sz="4200" dirty="0" err="1">
                <a:solidFill>
                  <a:srgbClr val="F9B314"/>
                </a:solidFill>
                <a:latin typeface="Montserrat Heavy"/>
              </a:rPr>
              <a:t>Perkuliahan</a:t>
            </a:r>
            <a:endParaRPr lang="en-US" sz="4200" dirty="0">
              <a:solidFill>
                <a:srgbClr val="F9B314"/>
              </a:solidFill>
              <a:latin typeface="Montserrat Heavy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028700" y="981075"/>
            <a:ext cx="7042449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359"/>
              </a:lnSpc>
            </a:pPr>
            <a:r>
              <a:rPr lang="en-US" sz="2400">
                <a:solidFill>
                  <a:srgbClr val="101010"/>
                </a:solidFill>
                <a:latin typeface="Montserrat Classic Bold"/>
              </a:rPr>
              <a:t>Universitas Logistik dan Bisnis Internasional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5D44FC54-C1AB-3431-BB09-563FB75D71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0167" y="3924300"/>
            <a:ext cx="8742298" cy="52628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574847"/>
            <a:ext cx="1856645" cy="68071"/>
            <a:chOff x="0" y="0"/>
            <a:chExt cx="488993" cy="1792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8993" cy="17928"/>
            </a:xfrm>
            <a:custGeom>
              <a:avLst/>
              <a:gdLst/>
              <a:ahLst/>
              <a:cxnLst/>
              <a:rect l="l" t="t" r="r" b="b"/>
              <a:pathLst>
                <a:path w="488993" h="17928">
                  <a:moveTo>
                    <a:pt x="0" y="0"/>
                  </a:moveTo>
                  <a:lnTo>
                    <a:pt x="488993" y="0"/>
                  </a:lnTo>
                  <a:lnTo>
                    <a:pt x="488993" y="17928"/>
                  </a:lnTo>
                  <a:lnTo>
                    <a:pt x="0" y="17928"/>
                  </a:lnTo>
                  <a:close/>
                </a:path>
              </a:pathLst>
            </a:custGeom>
            <a:solidFill>
              <a:srgbClr val="F9B314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8993" cy="560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3880" y="5493197"/>
            <a:ext cx="2351642" cy="2351642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1028700" y="2059473"/>
            <a:ext cx="6448950" cy="529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947"/>
              </a:lnSpc>
            </a:pPr>
            <a:r>
              <a:rPr lang="en-US" sz="4200">
                <a:solidFill>
                  <a:srgbClr val="1211CA"/>
                </a:solidFill>
                <a:latin typeface="Montserrat Heavy"/>
              </a:rPr>
              <a:t>Penilaian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676730" y="3819231"/>
            <a:ext cx="7405958" cy="423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102"/>
              </a:lnSpc>
            </a:pPr>
            <a:r>
              <a:rPr lang="en-US" sz="3300" b="1" dirty="0" err="1">
                <a:solidFill>
                  <a:srgbClr val="F9B314"/>
                </a:solidFill>
                <a:latin typeface="Montserrat Heavy"/>
              </a:rPr>
              <a:t>Komponen</a:t>
            </a:r>
            <a:r>
              <a:rPr lang="en-US" sz="3300" b="1" dirty="0">
                <a:solidFill>
                  <a:srgbClr val="F9B314"/>
                </a:solidFill>
                <a:latin typeface="Montserrat Heavy"/>
              </a:rPr>
              <a:t> dan </a:t>
            </a:r>
            <a:r>
              <a:rPr lang="en-US" sz="3300" b="1" dirty="0" err="1">
                <a:solidFill>
                  <a:srgbClr val="F9B314"/>
                </a:solidFill>
                <a:latin typeface="Montserrat Heavy"/>
              </a:rPr>
              <a:t>Bobot</a:t>
            </a:r>
            <a:r>
              <a:rPr lang="en-US" sz="3300" b="1" dirty="0">
                <a:solidFill>
                  <a:srgbClr val="F9B314"/>
                </a:solidFill>
                <a:latin typeface="Montserrat Heavy"/>
              </a:rPr>
              <a:t> </a:t>
            </a:r>
            <a:r>
              <a:rPr lang="en-US" sz="3300" b="1" dirty="0" err="1">
                <a:solidFill>
                  <a:srgbClr val="F9B314"/>
                </a:solidFill>
                <a:latin typeface="Montserrat Heavy"/>
              </a:rPr>
              <a:t>Penilaian</a:t>
            </a:r>
            <a:endParaRPr lang="en-US" sz="3300" b="1" dirty="0">
              <a:solidFill>
                <a:srgbClr val="F9B314"/>
              </a:solidFill>
              <a:latin typeface="Montserrat Heavy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4505124" y="4743544"/>
            <a:ext cx="3324456" cy="5055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199"/>
              </a:lnSpc>
            </a:pPr>
            <a:r>
              <a:rPr lang="en-US" sz="2999" dirty="0" err="1">
                <a:solidFill>
                  <a:srgbClr val="1211CA"/>
                </a:solidFill>
                <a:latin typeface="Montserrat Classic Bold"/>
              </a:rPr>
              <a:t>Praktikum</a:t>
            </a:r>
            <a:r>
              <a:rPr lang="en-US" sz="2999" dirty="0">
                <a:solidFill>
                  <a:srgbClr val="1211CA"/>
                </a:solidFill>
                <a:latin typeface="Montserrat Classic Bold"/>
              </a:rPr>
              <a:t> &amp; </a:t>
            </a:r>
            <a:r>
              <a:rPr lang="en-US" sz="2999" dirty="0" err="1">
                <a:solidFill>
                  <a:srgbClr val="1211CA"/>
                </a:solidFill>
                <a:latin typeface="Montserrat Classic Bold"/>
              </a:rPr>
              <a:t>Tugas</a:t>
            </a:r>
            <a:endParaRPr lang="en-US" sz="2999" dirty="0">
              <a:solidFill>
                <a:srgbClr val="1211CA"/>
              </a:solidFill>
              <a:latin typeface="Montserrat Classic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8956111" y="4754446"/>
            <a:ext cx="998117" cy="504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199"/>
              </a:lnSpc>
            </a:pPr>
            <a:r>
              <a:rPr lang="en-US" sz="2999">
                <a:solidFill>
                  <a:srgbClr val="1211CA"/>
                </a:solidFill>
                <a:latin typeface="Montserrat Classic Bold"/>
              </a:rPr>
              <a:t>Quiz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981075"/>
            <a:ext cx="7042449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359"/>
              </a:lnSpc>
            </a:pPr>
            <a:r>
              <a:rPr lang="en-US" sz="2400">
                <a:solidFill>
                  <a:srgbClr val="101010"/>
                </a:solidFill>
                <a:latin typeface="Montserrat Classic Bold"/>
              </a:rPr>
              <a:t>Universitas Logistik dan Bisnis Internasional</a:t>
            </a:r>
          </a:p>
        </p:txBody>
      </p:sp>
      <p:sp>
        <p:nvSpPr>
          <p:cNvPr id="11" name="Freeform 11"/>
          <p:cNvSpPr/>
          <p:nvPr/>
        </p:nvSpPr>
        <p:spPr>
          <a:xfrm>
            <a:off x="14787351" y="-318930"/>
            <a:ext cx="2185553" cy="2185553"/>
          </a:xfrm>
          <a:custGeom>
            <a:avLst/>
            <a:gdLst/>
            <a:ahLst/>
            <a:cxnLst/>
            <a:rect l="l" t="t" r="r" b="b"/>
            <a:pathLst>
              <a:path w="2185553" h="2185553">
                <a:moveTo>
                  <a:pt x="0" y="0"/>
                </a:moveTo>
                <a:lnTo>
                  <a:pt x="2185553" y="0"/>
                </a:lnTo>
                <a:lnTo>
                  <a:pt x="2185553" y="2185553"/>
                </a:lnTo>
                <a:lnTo>
                  <a:pt x="0" y="21855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grpSp>
        <p:nvGrpSpPr>
          <p:cNvPr id="12" name="Group 12"/>
          <p:cNvGrpSpPr/>
          <p:nvPr/>
        </p:nvGrpSpPr>
        <p:grpSpPr>
          <a:xfrm>
            <a:off x="14500955" y="1451912"/>
            <a:ext cx="2758345" cy="245871"/>
            <a:chOff x="0" y="0"/>
            <a:chExt cx="726478" cy="6475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726478" cy="64756"/>
            </a:xfrm>
            <a:custGeom>
              <a:avLst/>
              <a:gdLst/>
              <a:ahLst/>
              <a:cxnLst/>
              <a:rect l="l" t="t" r="r" b="b"/>
              <a:pathLst>
                <a:path w="726478" h="64756">
                  <a:moveTo>
                    <a:pt x="0" y="0"/>
                  </a:moveTo>
                  <a:lnTo>
                    <a:pt x="726478" y="0"/>
                  </a:lnTo>
                  <a:lnTo>
                    <a:pt x="726478" y="64756"/>
                  </a:lnTo>
                  <a:lnTo>
                    <a:pt x="0" y="64756"/>
                  </a:lnTo>
                  <a:close/>
                </a:path>
              </a:pathLst>
            </a:custGeom>
            <a:solidFill>
              <a:srgbClr val="F9B314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726478" cy="1028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280809" y="4754446"/>
            <a:ext cx="2097784" cy="504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199"/>
              </a:lnSpc>
            </a:pPr>
            <a:r>
              <a:rPr lang="en-US" sz="2999">
                <a:solidFill>
                  <a:srgbClr val="1211CA"/>
                </a:solidFill>
                <a:latin typeface="Montserrat Classic Bold"/>
              </a:rPr>
              <a:t>Kehadiran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228357" y="4754446"/>
            <a:ext cx="878583" cy="504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199"/>
              </a:lnSpc>
            </a:pPr>
            <a:r>
              <a:rPr lang="en-US" sz="2999">
                <a:solidFill>
                  <a:srgbClr val="1211CA"/>
                </a:solidFill>
                <a:latin typeface="Montserrat Classic Bold"/>
              </a:rPr>
              <a:t>UTS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5406324" y="4754446"/>
            <a:ext cx="947608" cy="504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199"/>
              </a:lnSpc>
            </a:pPr>
            <a:r>
              <a:rPr lang="en-US" sz="2999">
                <a:solidFill>
                  <a:srgbClr val="1211CA"/>
                </a:solidFill>
                <a:latin typeface="Montserrat Classic Bold"/>
              </a:rPr>
              <a:t>UAS</a:t>
            </a: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7444" y="5493197"/>
            <a:ext cx="2351642" cy="2351642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9348" y="5493197"/>
            <a:ext cx="2351642" cy="2351642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91827" y="5493197"/>
            <a:ext cx="2351642" cy="2351642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704307" y="5493197"/>
            <a:ext cx="2351642" cy="235164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574847"/>
            <a:ext cx="1856645" cy="68071"/>
            <a:chOff x="0" y="0"/>
            <a:chExt cx="488993" cy="1792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8993" cy="17928"/>
            </a:xfrm>
            <a:custGeom>
              <a:avLst/>
              <a:gdLst/>
              <a:ahLst/>
              <a:cxnLst/>
              <a:rect l="l" t="t" r="r" b="b"/>
              <a:pathLst>
                <a:path w="488993" h="17928">
                  <a:moveTo>
                    <a:pt x="0" y="0"/>
                  </a:moveTo>
                  <a:lnTo>
                    <a:pt x="488993" y="0"/>
                  </a:lnTo>
                  <a:lnTo>
                    <a:pt x="488993" y="17928"/>
                  </a:lnTo>
                  <a:lnTo>
                    <a:pt x="0" y="17928"/>
                  </a:lnTo>
                  <a:close/>
                </a:path>
              </a:pathLst>
            </a:custGeom>
            <a:solidFill>
              <a:srgbClr val="F9B314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8993" cy="560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28700" y="2059473"/>
            <a:ext cx="6448950" cy="529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947"/>
              </a:lnSpc>
            </a:pPr>
            <a:r>
              <a:rPr lang="en-US" sz="4200">
                <a:solidFill>
                  <a:srgbClr val="1211CA"/>
                </a:solidFill>
                <a:latin typeface="Montserrat Heavy"/>
              </a:rPr>
              <a:t>Penilaian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880228" y="3795083"/>
            <a:ext cx="5149882" cy="4265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196"/>
              </a:lnSpc>
            </a:pPr>
            <a:r>
              <a:rPr lang="en-US" sz="3400">
                <a:solidFill>
                  <a:srgbClr val="F9B314"/>
                </a:solidFill>
                <a:latin typeface="Montserrat Heavy"/>
              </a:rPr>
              <a:t>Ketentuan Nilai Akhir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981075"/>
            <a:ext cx="7042449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359"/>
              </a:lnSpc>
            </a:pPr>
            <a:r>
              <a:rPr lang="en-US" sz="2400">
                <a:solidFill>
                  <a:srgbClr val="101010"/>
                </a:solidFill>
                <a:latin typeface="Montserrat Classic Bold"/>
              </a:rPr>
              <a:t>Universitas Logistik dan Bisnis Internasional</a:t>
            </a:r>
          </a:p>
        </p:txBody>
      </p:sp>
      <p:sp>
        <p:nvSpPr>
          <p:cNvPr id="8" name="Freeform 8"/>
          <p:cNvSpPr/>
          <p:nvPr/>
        </p:nvSpPr>
        <p:spPr>
          <a:xfrm>
            <a:off x="14787351" y="-318930"/>
            <a:ext cx="2185553" cy="2185553"/>
          </a:xfrm>
          <a:custGeom>
            <a:avLst/>
            <a:gdLst/>
            <a:ahLst/>
            <a:cxnLst/>
            <a:rect l="l" t="t" r="r" b="b"/>
            <a:pathLst>
              <a:path w="2185553" h="2185553">
                <a:moveTo>
                  <a:pt x="0" y="0"/>
                </a:moveTo>
                <a:lnTo>
                  <a:pt x="2185553" y="0"/>
                </a:lnTo>
                <a:lnTo>
                  <a:pt x="2185553" y="2185553"/>
                </a:lnTo>
                <a:lnTo>
                  <a:pt x="0" y="218555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grpSp>
        <p:nvGrpSpPr>
          <p:cNvPr id="9" name="Group 9"/>
          <p:cNvGrpSpPr/>
          <p:nvPr/>
        </p:nvGrpSpPr>
        <p:grpSpPr>
          <a:xfrm>
            <a:off x="14500955" y="1451912"/>
            <a:ext cx="2758345" cy="245871"/>
            <a:chOff x="0" y="0"/>
            <a:chExt cx="726478" cy="6475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726478" cy="64756"/>
            </a:xfrm>
            <a:custGeom>
              <a:avLst/>
              <a:gdLst/>
              <a:ahLst/>
              <a:cxnLst/>
              <a:rect l="l" t="t" r="r" b="b"/>
              <a:pathLst>
                <a:path w="726478" h="64756">
                  <a:moveTo>
                    <a:pt x="0" y="0"/>
                  </a:moveTo>
                  <a:lnTo>
                    <a:pt x="726478" y="0"/>
                  </a:lnTo>
                  <a:lnTo>
                    <a:pt x="726478" y="64756"/>
                  </a:lnTo>
                  <a:lnTo>
                    <a:pt x="0" y="64756"/>
                  </a:lnTo>
                  <a:close/>
                </a:path>
              </a:pathLst>
            </a:custGeom>
            <a:solidFill>
              <a:srgbClr val="F9B314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726478" cy="1028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5915034" y="4585237"/>
            <a:ext cx="6498227" cy="4362712"/>
            <a:chOff x="0" y="0"/>
            <a:chExt cx="2162107" cy="1451573"/>
          </a:xfrm>
        </p:grpSpPr>
        <p:sp>
          <p:nvSpPr>
            <p:cNvPr id="13" name="Freeform 13"/>
            <p:cNvSpPr/>
            <p:nvPr/>
          </p:nvSpPr>
          <p:spPr>
            <a:xfrm>
              <a:off x="41910" y="43180"/>
              <a:ext cx="2113847" cy="1403313"/>
            </a:xfrm>
            <a:custGeom>
              <a:avLst/>
              <a:gdLst/>
              <a:ahLst/>
              <a:cxnLst/>
              <a:rect l="l" t="t" r="r" b="b"/>
              <a:pathLst>
                <a:path w="2113847" h="1403313">
                  <a:moveTo>
                    <a:pt x="0" y="0"/>
                  </a:moveTo>
                  <a:lnTo>
                    <a:pt x="2113847" y="0"/>
                  </a:lnTo>
                  <a:lnTo>
                    <a:pt x="2113847" y="1403313"/>
                  </a:lnTo>
                  <a:lnTo>
                    <a:pt x="0" y="1403313"/>
                  </a:lnTo>
                  <a:close/>
                </a:path>
              </a:pathLst>
            </a:custGeom>
            <a:solidFill>
              <a:srgbClr val="77838D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14" name="Freeform 14"/>
            <p:cNvSpPr/>
            <p:nvPr/>
          </p:nvSpPr>
          <p:spPr>
            <a:xfrm>
              <a:off x="35560" y="35560"/>
              <a:ext cx="2126547" cy="1416013"/>
            </a:xfrm>
            <a:custGeom>
              <a:avLst/>
              <a:gdLst/>
              <a:ahLst/>
              <a:cxnLst/>
              <a:rect l="l" t="t" r="r" b="b"/>
              <a:pathLst>
                <a:path w="2126547" h="1416013">
                  <a:moveTo>
                    <a:pt x="2126547" y="1416013"/>
                  </a:moveTo>
                  <a:lnTo>
                    <a:pt x="0" y="1416013"/>
                  </a:lnTo>
                  <a:lnTo>
                    <a:pt x="0" y="0"/>
                  </a:lnTo>
                  <a:lnTo>
                    <a:pt x="2126547" y="0"/>
                  </a:lnTo>
                  <a:lnTo>
                    <a:pt x="2126547" y="1416013"/>
                  </a:lnTo>
                  <a:close/>
                  <a:moveTo>
                    <a:pt x="12700" y="1403313"/>
                  </a:moveTo>
                  <a:lnTo>
                    <a:pt x="2113847" y="1403313"/>
                  </a:lnTo>
                  <a:lnTo>
                    <a:pt x="2113847" y="12700"/>
                  </a:lnTo>
                  <a:lnTo>
                    <a:pt x="12700" y="12700"/>
                  </a:lnTo>
                  <a:lnTo>
                    <a:pt x="12700" y="140331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15" name="Freeform 15"/>
            <p:cNvSpPr/>
            <p:nvPr/>
          </p:nvSpPr>
          <p:spPr>
            <a:xfrm>
              <a:off x="0" y="0"/>
              <a:ext cx="2113847" cy="1403313"/>
            </a:xfrm>
            <a:custGeom>
              <a:avLst/>
              <a:gdLst/>
              <a:ahLst/>
              <a:cxnLst/>
              <a:rect l="l" t="t" r="r" b="b"/>
              <a:pathLst>
                <a:path w="2113847" h="1403313">
                  <a:moveTo>
                    <a:pt x="0" y="0"/>
                  </a:moveTo>
                  <a:lnTo>
                    <a:pt x="2113847" y="0"/>
                  </a:lnTo>
                  <a:lnTo>
                    <a:pt x="2113847" y="1403313"/>
                  </a:lnTo>
                  <a:lnTo>
                    <a:pt x="0" y="1403313"/>
                  </a:lnTo>
                  <a:close/>
                </a:path>
              </a:pathLst>
            </a:custGeom>
            <a:solidFill>
              <a:srgbClr val="FDFDFD"/>
            </a:solidFill>
          </p:spPr>
          <p:txBody>
            <a:bodyPr/>
            <a:lstStyle/>
            <a:p>
              <a:endParaRPr lang="en-ID"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6195681" y="4723200"/>
            <a:ext cx="1875467" cy="39096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76" lvl="1" indent="-345438">
              <a:lnSpc>
                <a:spcPts val="4479"/>
              </a:lnSpc>
              <a:buFont typeface="Arial"/>
              <a:buChar char="•"/>
            </a:pPr>
            <a:r>
              <a:rPr lang="en-US" sz="3199">
                <a:solidFill>
                  <a:srgbClr val="2D262A"/>
                </a:solidFill>
                <a:latin typeface="Montserrat Classic Bold"/>
              </a:rPr>
              <a:t>A</a:t>
            </a:r>
          </a:p>
          <a:p>
            <a:pPr marL="690876" lvl="1" indent="-345438">
              <a:lnSpc>
                <a:spcPts val="4479"/>
              </a:lnSpc>
              <a:buFont typeface="Arial"/>
              <a:buChar char="•"/>
            </a:pPr>
            <a:r>
              <a:rPr lang="en-US" sz="3199">
                <a:solidFill>
                  <a:srgbClr val="2D262A"/>
                </a:solidFill>
                <a:latin typeface="Montserrat Classic Bold"/>
              </a:rPr>
              <a:t>AB</a:t>
            </a:r>
          </a:p>
          <a:p>
            <a:pPr marL="690876" lvl="1" indent="-345438">
              <a:lnSpc>
                <a:spcPts val="4479"/>
              </a:lnSpc>
              <a:buFont typeface="Arial"/>
              <a:buChar char="•"/>
            </a:pPr>
            <a:r>
              <a:rPr lang="en-US" sz="3199">
                <a:solidFill>
                  <a:srgbClr val="2D262A"/>
                </a:solidFill>
                <a:latin typeface="Montserrat Classic Bold"/>
              </a:rPr>
              <a:t>B</a:t>
            </a:r>
          </a:p>
          <a:p>
            <a:pPr marL="690876" lvl="1" indent="-345438">
              <a:lnSpc>
                <a:spcPts val="4479"/>
              </a:lnSpc>
              <a:buFont typeface="Arial"/>
              <a:buChar char="•"/>
            </a:pPr>
            <a:r>
              <a:rPr lang="en-US" sz="3199">
                <a:solidFill>
                  <a:srgbClr val="2D262A"/>
                </a:solidFill>
                <a:latin typeface="Montserrat Classic Bold"/>
              </a:rPr>
              <a:t>BC</a:t>
            </a:r>
          </a:p>
          <a:p>
            <a:pPr marL="690876" lvl="1" indent="-345438">
              <a:lnSpc>
                <a:spcPts val="4479"/>
              </a:lnSpc>
              <a:buFont typeface="Arial"/>
              <a:buChar char="•"/>
            </a:pPr>
            <a:r>
              <a:rPr lang="en-US" sz="3199">
                <a:solidFill>
                  <a:srgbClr val="2D262A"/>
                </a:solidFill>
                <a:latin typeface="Montserrat Classic Bold"/>
              </a:rPr>
              <a:t>C</a:t>
            </a:r>
          </a:p>
          <a:p>
            <a:pPr marL="690876" lvl="1" indent="-345438">
              <a:lnSpc>
                <a:spcPts val="4479"/>
              </a:lnSpc>
              <a:buFont typeface="Arial"/>
              <a:buChar char="•"/>
            </a:pPr>
            <a:r>
              <a:rPr lang="en-US" sz="3199">
                <a:solidFill>
                  <a:srgbClr val="2D262A"/>
                </a:solidFill>
                <a:latin typeface="Montserrat Classic Bold"/>
              </a:rPr>
              <a:t>D</a:t>
            </a:r>
          </a:p>
          <a:p>
            <a:pPr marL="690876" lvl="1" indent="-345438">
              <a:lnSpc>
                <a:spcPts val="4479"/>
              </a:lnSpc>
              <a:buFont typeface="Arial"/>
              <a:buChar char="•"/>
            </a:pPr>
            <a:r>
              <a:rPr lang="en-US" sz="3199">
                <a:solidFill>
                  <a:srgbClr val="2D262A"/>
                </a:solidFill>
                <a:latin typeface="Montserrat Classic Bold"/>
              </a:rPr>
              <a:t>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144000" y="4723200"/>
            <a:ext cx="3894552" cy="39096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479"/>
              </a:lnSpc>
            </a:pPr>
            <a:r>
              <a:rPr lang="en-US" sz="3199">
                <a:solidFill>
                  <a:srgbClr val="2D262A"/>
                </a:solidFill>
                <a:latin typeface="Montserrat Classic Bold"/>
              </a:rPr>
              <a:t>: 85 ≥ 100</a:t>
            </a:r>
          </a:p>
          <a:p>
            <a:pPr>
              <a:lnSpc>
                <a:spcPts val="4479"/>
              </a:lnSpc>
            </a:pPr>
            <a:r>
              <a:rPr lang="en-US" sz="3199">
                <a:solidFill>
                  <a:srgbClr val="2D262A"/>
                </a:solidFill>
                <a:latin typeface="Montserrat Classic Bold"/>
              </a:rPr>
              <a:t>: 78 ≥ 84.99</a:t>
            </a:r>
          </a:p>
          <a:p>
            <a:pPr>
              <a:lnSpc>
                <a:spcPts val="4479"/>
              </a:lnSpc>
            </a:pPr>
            <a:r>
              <a:rPr lang="en-US" sz="3199">
                <a:solidFill>
                  <a:srgbClr val="2D262A"/>
                </a:solidFill>
                <a:latin typeface="Montserrat Classic Bold"/>
              </a:rPr>
              <a:t>: 70 ≥ 77.99</a:t>
            </a:r>
          </a:p>
          <a:p>
            <a:pPr>
              <a:lnSpc>
                <a:spcPts val="4479"/>
              </a:lnSpc>
            </a:pPr>
            <a:r>
              <a:rPr lang="en-US" sz="3199">
                <a:solidFill>
                  <a:srgbClr val="2D262A"/>
                </a:solidFill>
                <a:latin typeface="Montserrat Classic Bold"/>
              </a:rPr>
              <a:t>: 65 ≥ 69.99</a:t>
            </a:r>
          </a:p>
          <a:p>
            <a:pPr>
              <a:lnSpc>
                <a:spcPts val="4479"/>
              </a:lnSpc>
            </a:pPr>
            <a:r>
              <a:rPr lang="en-US" sz="3199">
                <a:solidFill>
                  <a:srgbClr val="2D262A"/>
                </a:solidFill>
                <a:latin typeface="Montserrat Classic Bold"/>
              </a:rPr>
              <a:t>: 60 ≥ 64.99</a:t>
            </a:r>
          </a:p>
          <a:p>
            <a:pPr>
              <a:lnSpc>
                <a:spcPts val="4479"/>
              </a:lnSpc>
            </a:pPr>
            <a:r>
              <a:rPr lang="en-US" sz="3199">
                <a:solidFill>
                  <a:srgbClr val="2D262A"/>
                </a:solidFill>
                <a:latin typeface="Montserrat Classic Bold"/>
              </a:rPr>
              <a:t>: 41 ≥ 59.99</a:t>
            </a:r>
          </a:p>
          <a:p>
            <a:pPr>
              <a:lnSpc>
                <a:spcPts val="4479"/>
              </a:lnSpc>
            </a:pPr>
            <a:r>
              <a:rPr lang="en-US" sz="3199">
                <a:solidFill>
                  <a:srgbClr val="2D262A"/>
                </a:solidFill>
                <a:latin typeface="Montserrat Classic Bold"/>
              </a:rPr>
              <a:t>: ≤40.99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496584" y="8980805"/>
            <a:ext cx="9917170" cy="4978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sz="2899">
                <a:solidFill>
                  <a:srgbClr val="000000"/>
                </a:solidFill>
                <a:latin typeface="Montserrat Classic Bold"/>
              </a:rPr>
              <a:t>Tidak mengikuti UTS atau UAS = Nilai 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496584" y="9440545"/>
            <a:ext cx="9917170" cy="4978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sz="2899">
                <a:solidFill>
                  <a:srgbClr val="000000"/>
                </a:solidFill>
                <a:latin typeface="Montserrat Classic Bold"/>
              </a:rPr>
              <a:t>4x tidak melakukan presensi = Nilai 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574847"/>
            <a:ext cx="1856645" cy="68071"/>
            <a:chOff x="0" y="0"/>
            <a:chExt cx="488993" cy="1792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8993" cy="17928"/>
            </a:xfrm>
            <a:custGeom>
              <a:avLst/>
              <a:gdLst/>
              <a:ahLst/>
              <a:cxnLst/>
              <a:rect l="l" t="t" r="r" b="b"/>
              <a:pathLst>
                <a:path w="488993" h="17928">
                  <a:moveTo>
                    <a:pt x="0" y="0"/>
                  </a:moveTo>
                  <a:lnTo>
                    <a:pt x="488993" y="0"/>
                  </a:lnTo>
                  <a:lnTo>
                    <a:pt x="488993" y="17928"/>
                  </a:lnTo>
                  <a:lnTo>
                    <a:pt x="0" y="17928"/>
                  </a:lnTo>
                  <a:close/>
                </a:path>
              </a:pathLst>
            </a:custGeom>
            <a:solidFill>
              <a:srgbClr val="F9B314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8993" cy="560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28700" y="1971398"/>
            <a:ext cx="7218668" cy="529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947"/>
              </a:lnSpc>
            </a:pPr>
            <a:r>
              <a:rPr lang="en-US" sz="4200">
                <a:solidFill>
                  <a:srgbClr val="1211CA"/>
                </a:solidFill>
                <a:latin typeface="Montserrat Heavy"/>
              </a:rPr>
              <a:t>Kontrak Perkuliahan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3303757"/>
            <a:ext cx="5922266" cy="529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947"/>
              </a:lnSpc>
            </a:pPr>
            <a:r>
              <a:rPr lang="en-US" sz="4200">
                <a:solidFill>
                  <a:srgbClr val="F9B314"/>
                </a:solidFill>
                <a:latin typeface="Montserrat Heavy"/>
              </a:rPr>
              <a:t>Tata Tertib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981075"/>
            <a:ext cx="7042449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359"/>
              </a:lnSpc>
            </a:pPr>
            <a:r>
              <a:rPr lang="en-US" sz="2400">
                <a:solidFill>
                  <a:srgbClr val="101010"/>
                </a:solidFill>
                <a:latin typeface="Montserrat Classic Bold"/>
              </a:rPr>
              <a:t>Universitas Logistik dan Bisnis Internasional</a:t>
            </a:r>
          </a:p>
        </p:txBody>
      </p:sp>
      <p:sp>
        <p:nvSpPr>
          <p:cNvPr id="8" name="Freeform 8"/>
          <p:cNvSpPr/>
          <p:nvPr/>
        </p:nvSpPr>
        <p:spPr>
          <a:xfrm>
            <a:off x="14787351" y="-318930"/>
            <a:ext cx="2185553" cy="2185553"/>
          </a:xfrm>
          <a:custGeom>
            <a:avLst/>
            <a:gdLst/>
            <a:ahLst/>
            <a:cxnLst/>
            <a:rect l="l" t="t" r="r" b="b"/>
            <a:pathLst>
              <a:path w="2185553" h="2185553">
                <a:moveTo>
                  <a:pt x="0" y="0"/>
                </a:moveTo>
                <a:lnTo>
                  <a:pt x="2185553" y="0"/>
                </a:lnTo>
                <a:lnTo>
                  <a:pt x="2185553" y="2185553"/>
                </a:lnTo>
                <a:lnTo>
                  <a:pt x="0" y="218555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grpSp>
        <p:nvGrpSpPr>
          <p:cNvPr id="9" name="Group 9"/>
          <p:cNvGrpSpPr/>
          <p:nvPr/>
        </p:nvGrpSpPr>
        <p:grpSpPr>
          <a:xfrm>
            <a:off x="14500955" y="1451912"/>
            <a:ext cx="2758345" cy="245871"/>
            <a:chOff x="0" y="0"/>
            <a:chExt cx="726478" cy="6475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726478" cy="64756"/>
            </a:xfrm>
            <a:custGeom>
              <a:avLst/>
              <a:gdLst/>
              <a:ahLst/>
              <a:cxnLst/>
              <a:rect l="l" t="t" r="r" b="b"/>
              <a:pathLst>
                <a:path w="726478" h="64756">
                  <a:moveTo>
                    <a:pt x="0" y="0"/>
                  </a:moveTo>
                  <a:lnTo>
                    <a:pt x="726478" y="0"/>
                  </a:lnTo>
                  <a:lnTo>
                    <a:pt x="726478" y="64756"/>
                  </a:lnTo>
                  <a:lnTo>
                    <a:pt x="0" y="64756"/>
                  </a:lnTo>
                  <a:close/>
                </a:path>
              </a:pathLst>
            </a:custGeom>
            <a:solidFill>
              <a:srgbClr val="F9B314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726478" cy="1028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028700" y="3985366"/>
            <a:ext cx="16670443" cy="34690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12465" lvl="1" indent="-356233">
              <a:lnSpc>
                <a:spcPts val="4619"/>
              </a:lnSpc>
              <a:buFont typeface="Arial"/>
              <a:buChar char="•"/>
            </a:pPr>
            <a:r>
              <a:rPr lang="en-US" sz="3299" dirty="0">
                <a:solidFill>
                  <a:srgbClr val="2D262A"/>
                </a:solidFill>
                <a:latin typeface="Montserrat Classic"/>
              </a:rPr>
              <a:t> </a:t>
            </a:r>
            <a:r>
              <a:rPr lang="en-US" sz="3299" dirty="0" err="1">
                <a:solidFill>
                  <a:srgbClr val="2D262A"/>
                </a:solidFill>
                <a:latin typeface="Montserrat Classic"/>
              </a:rPr>
              <a:t>Perkuliahan</a:t>
            </a:r>
            <a:r>
              <a:rPr lang="en-US" sz="3299" dirty="0">
                <a:solidFill>
                  <a:srgbClr val="2D262A"/>
                </a:solidFill>
                <a:latin typeface="Montserrat Classic"/>
              </a:rPr>
              <a:t> </a:t>
            </a:r>
            <a:r>
              <a:rPr lang="en-US" sz="3299" dirty="0" err="1">
                <a:solidFill>
                  <a:srgbClr val="2D262A"/>
                </a:solidFill>
                <a:latin typeface="Montserrat Classic"/>
              </a:rPr>
              <a:t>dimulai</a:t>
            </a:r>
            <a:r>
              <a:rPr lang="en-US" sz="3299" dirty="0">
                <a:solidFill>
                  <a:srgbClr val="2D262A"/>
                </a:solidFill>
                <a:latin typeface="Montserrat Classic"/>
              </a:rPr>
              <a:t> </a:t>
            </a:r>
            <a:r>
              <a:rPr lang="en-US" sz="3299" dirty="0" err="1">
                <a:solidFill>
                  <a:srgbClr val="2D262A"/>
                </a:solidFill>
                <a:latin typeface="Montserrat Classic"/>
              </a:rPr>
              <a:t>sesuai</a:t>
            </a:r>
            <a:r>
              <a:rPr lang="en-US" sz="3299" dirty="0">
                <a:solidFill>
                  <a:srgbClr val="2D262A"/>
                </a:solidFill>
                <a:latin typeface="Montserrat Classic"/>
              </a:rPr>
              <a:t> </a:t>
            </a:r>
            <a:r>
              <a:rPr lang="en-US" sz="3299" dirty="0" err="1">
                <a:solidFill>
                  <a:srgbClr val="2D262A"/>
                </a:solidFill>
                <a:latin typeface="Montserrat Classic"/>
              </a:rPr>
              <a:t>jadwal</a:t>
            </a:r>
            <a:r>
              <a:rPr lang="en-US" sz="3299" dirty="0">
                <a:solidFill>
                  <a:srgbClr val="2D262A"/>
                </a:solidFill>
                <a:latin typeface="Montserrat Classic"/>
              </a:rPr>
              <a:t> yang </a:t>
            </a:r>
            <a:r>
              <a:rPr lang="en-US" sz="3299" dirty="0" err="1">
                <a:solidFill>
                  <a:srgbClr val="2D262A"/>
                </a:solidFill>
                <a:latin typeface="Montserrat Classic"/>
              </a:rPr>
              <a:t>ditentukan</a:t>
            </a:r>
            <a:r>
              <a:rPr lang="en-US" sz="3299" dirty="0">
                <a:solidFill>
                  <a:srgbClr val="2D262A"/>
                </a:solidFill>
                <a:latin typeface="Montserrat Classic"/>
              </a:rPr>
              <a:t>,</a:t>
            </a:r>
          </a:p>
          <a:p>
            <a:pPr marL="712465" lvl="1" indent="-356233">
              <a:lnSpc>
                <a:spcPts val="4619"/>
              </a:lnSpc>
              <a:buFont typeface="Arial"/>
              <a:buChar char="•"/>
            </a:pPr>
            <a:r>
              <a:rPr lang="en-US" sz="3299" dirty="0">
                <a:solidFill>
                  <a:srgbClr val="2D262A"/>
                </a:solidFill>
                <a:latin typeface="Montserrat Classic"/>
              </a:rPr>
              <a:t> </a:t>
            </a:r>
            <a:r>
              <a:rPr lang="en-US" sz="3299" dirty="0" err="1">
                <a:solidFill>
                  <a:srgbClr val="2D262A"/>
                </a:solidFill>
                <a:latin typeface="Montserrat Classic"/>
              </a:rPr>
              <a:t>Toleransi</a:t>
            </a:r>
            <a:r>
              <a:rPr lang="en-US" sz="3299" dirty="0">
                <a:solidFill>
                  <a:srgbClr val="2D262A"/>
                </a:solidFill>
                <a:latin typeface="Montserrat Classic"/>
              </a:rPr>
              <a:t> </a:t>
            </a:r>
            <a:r>
              <a:rPr lang="en-US" sz="3299" dirty="0" err="1">
                <a:solidFill>
                  <a:srgbClr val="2D262A"/>
                </a:solidFill>
                <a:latin typeface="Montserrat Classic"/>
              </a:rPr>
              <a:t>keterlambatan</a:t>
            </a:r>
            <a:r>
              <a:rPr lang="en-US" sz="3299" dirty="0">
                <a:solidFill>
                  <a:srgbClr val="2D262A"/>
                </a:solidFill>
                <a:latin typeface="Montserrat Classic"/>
              </a:rPr>
              <a:t> 15 </a:t>
            </a:r>
            <a:r>
              <a:rPr lang="en-US" sz="3299" dirty="0" err="1">
                <a:solidFill>
                  <a:srgbClr val="2D262A"/>
                </a:solidFill>
                <a:latin typeface="Montserrat Classic"/>
              </a:rPr>
              <a:t>menit</a:t>
            </a:r>
            <a:r>
              <a:rPr lang="en-US" sz="3299" dirty="0">
                <a:solidFill>
                  <a:srgbClr val="2D262A"/>
                </a:solidFill>
                <a:latin typeface="Montserrat Classic"/>
              </a:rPr>
              <a:t>,</a:t>
            </a:r>
          </a:p>
          <a:p>
            <a:pPr marL="712465" lvl="1" indent="-356233">
              <a:lnSpc>
                <a:spcPts val="4619"/>
              </a:lnSpc>
              <a:buFont typeface="Arial"/>
              <a:buChar char="•"/>
            </a:pPr>
            <a:r>
              <a:rPr lang="en-US" sz="3299" dirty="0">
                <a:solidFill>
                  <a:srgbClr val="2D262A"/>
                </a:solidFill>
                <a:latin typeface="Montserrat Classic"/>
              </a:rPr>
              <a:t> </a:t>
            </a:r>
            <a:r>
              <a:rPr lang="en-US" sz="3299" dirty="0" err="1">
                <a:solidFill>
                  <a:srgbClr val="2D262A"/>
                </a:solidFill>
                <a:latin typeface="Montserrat Classic"/>
              </a:rPr>
              <a:t>Berpakaian</a:t>
            </a:r>
            <a:r>
              <a:rPr lang="en-US" sz="3299" dirty="0">
                <a:solidFill>
                  <a:srgbClr val="2D262A"/>
                </a:solidFill>
                <a:latin typeface="Montserrat Classic"/>
              </a:rPr>
              <a:t> </a:t>
            </a:r>
            <a:r>
              <a:rPr lang="en-US" sz="3299" dirty="0" err="1">
                <a:solidFill>
                  <a:srgbClr val="2D262A"/>
                </a:solidFill>
                <a:latin typeface="Montserrat Classic"/>
              </a:rPr>
              <a:t>rapi</a:t>
            </a:r>
            <a:r>
              <a:rPr lang="en-US" sz="3299" dirty="0">
                <a:solidFill>
                  <a:srgbClr val="2D262A"/>
                </a:solidFill>
                <a:latin typeface="Montserrat Classic"/>
              </a:rPr>
              <a:t> (</a:t>
            </a:r>
            <a:r>
              <a:rPr lang="en-US" sz="3299" dirty="0" err="1">
                <a:solidFill>
                  <a:srgbClr val="2D262A"/>
                </a:solidFill>
                <a:latin typeface="Montserrat Classic"/>
              </a:rPr>
              <a:t>tidak</a:t>
            </a:r>
            <a:r>
              <a:rPr lang="en-US" sz="3299" dirty="0">
                <a:solidFill>
                  <a:srgbClr val="2D262A"/>
                </a:solidFill>
                <a:latin typeface="Montserrat Classic"/>
              </a:rPr>
              <a:t> </a:t>
            </a:r>
            <a:r>
              <a:rPr lang="en-US" sz="3299" dirty="0" err="1">
                <a:solidFill>
                  <a:srgbClr val="2D262A"/>
                </a:solidFill>
                <a:latin typeface="Montserrat Classic"/>
              </a:rPr>
              <a:t>mengenakan</a:t>
            </a:r>
            <a:r>
              <a:rPr lang="en-US" sz="3299" dirty="0">
                <a:solidFill>
                  <a:srgbClr val="2D262A"/>
                </a:solidFill>
                <a:latin typeface="Montserrat Classic"/>
              </a:rPr>
              <a:t> </a:t>
            </a:r>
            <a:r>
              <a:rPr lang="en-US" sz="3299" dirty="0" err="1">
                <a:solidFill>
                  <a:srgbClr val="2D262A"/>
                </a:solidFill>
                <a:latin typeface="Montserrat Classic"/>
              </a:rPr>
              <a:t>kaos</a:t>
            </a:r>
            <a:r>
              <a:rPr lang="en-US" sz="3299" dirty="0">
                <a:solidFill>
                  <a:srgbClr val="2D262A"/>
                </a:solidFill>
                <a:latin typeface="Montserrat Classic"/>
              </a:rPr>
              <a:t> oblong </a:t>
            </a:r>
            <a:r>
              <a:rPr lang="en-US" sz="3299" dirty="0" err="1">
                <a:solidFill>
                  <a:srgbClr val="2D262A"/>
                </a:solidFill>
                <a:latin typeface="Montserrat Classic"/>
              </a:rPr>
              <a:t>atau</a:t>
            </a:r>
            <a:r>
              <a:rPr lang="en-US" sz="3299" dirty="0">
                <a:solidFill>
                  <a:srgbClr val="2D262A"/>
                </a:solidFill>
                <a:latin typeface="Montserrat Classic"/>
              </a:rPr>
              <a:t> sendal),</a:t>
            </a:r>
          </a:p>
          <a:p>
            <a:pPr marL="712465" lvl="1" indent="-356233">
              <a:lnSpc>
                <a:spcPts val="4619"/>
              </a:lnSpc>
              <a:buFont typeface="Arial"/>
              <a:buChar char="•"/>
            </a:pPr>
            <a:r>
              <a:rPr lang="en-US" sz="3299" dirty="0">
                <a:solidFill>
                  <a:srgbClr val="2D262A"/>
                </a:solidFill>
                <a:latin typeface="Montserrat Classic"/>
              </a:rPr>
              <a:t> </a:t>
            </a:r>
            <a:r>
              <a:rPr lang="en-US" sz="3299" dirty="0" err="1">
                <a:solidFill>
                  <a:srgbClr val="2D262A"/>
                </a:solidFill>
                <a:latin typeface="Montserrat Classic"/>
              </a:rPr>
              <a:t>Tugas</a:t>
            </a:r>
            <a:r>
              <a:rPr lang="en-US" sz="3299" dirty="0">
                <a:solidFill>
                  <a:srgbClr val="2D262A"/>
                </a:solidFill>
                <a:latin typeface="Montserrat Classic"/>
              </a:rPr>
              <a:t> </a:t>
            </a:r>
            <a:r>
              <a:rPr lang="en-US" sz="3299" dirty="0" err="1">
                <a:solidFill>
                  <a:srgbClr val="2D262A"/>
                </a:solidFill>
                <a:latin typeface="Montserrat Classic"/>
              </a:rPr>
              <a:t>dikumpulkan</a:t>
            </a:r>
            <a:r>
              <a:rPr lang="en-US" sz="3299" dirty="0">
                <a:solidFill>
                  <a:srgbClr val="2D262A"/>
                </a:solidFill>
                <a:latin typeface="Montserrat Classic"/>
              </a:rPr>
              <a:t> </a:t>
            </a:r>
            <a:r>
              <a:rPr lang="en-US" sz="3299" dirty="0" err="1">
                <a:solidFill>
                  <a:srgbClr val="2D262A"/>
                </a:solidFill>
                <a:latin typeface="Montserrat Classic"/>
              </a:rPr>
              <a:t>tepat</a:t>
            </a:r>
            <a:r>
              <a:rPr lang="en-US" sz="3299" dirty="0">
                <a:solidFill>
                  <a:srgbClr val="2D262A"/>
                </a:solidFill>
                <a:latin typeface="Montserrat Classic"/>
              </a:rPr>
              <a:t> </a:t>
            </a:r>
            <a:r>
              <a:rPr lang="en-US" sz="3299" dirty="0" err="1">
                <a:solidFill>
                  <a:srgbClr val="2D262A"/>
                </a:solidFill>
                <a:latin typeface="Montserrat Classic"/>
              </a:rPr>
              <a:t>waktu</a:t>
            </a:r>
            <a:r>
              <a:rPr lang="en-US" sz="3299" dirty="0">
                <a:solidFill>
                  <a:srgbClr val="2D262A"/>
                </a:solidFill>
                <a:latin typeface="Montserrat Classic"/>
              </a:rPr>
              <a:t> (</a:t>
            </a:r>
            <a:r>
              <a:rPr lang="en-US" sz="3299" dirty="0" err="1">
                <a:solidFill>
                  <a:srgbClr val="2D262A"/>
                </a:solidFill>
                <a:latin typeface="Montserrat Classic"/>
              </a:rPr>
              <a:t>jika</a:t>
            </a:r>
            <a:r>
              <a:rPr lang="en-US" sz="3299" dirty="0">
                <a:solidFill>
                  <a:srgbClr val="2D262A"/>
                </a:solidFill>
                <a:latin typeface="Montserrat Classic"/>
              </a:rPr>
              <a:t> </a:t>
            </a:r>
            <a:r>
              <a:rPr lang="en-US" sz="3299" dirty="0" err="1">
                <a:solidFill>
                  <a:srgbClr val="2D262A"/>
                </a:solidFill>
                <a:latin typeface="Montserrat Classic"/>
              </a:rPr>
              <a:t>pengumpulan</a:t>
            </a:r>
            <a:r>
              <a:rPr lang="en-US" sz="3299" dirty="0">
                <a:solidFill>
                  <a:srgbClr val="2D262A"/>
                </a:solidFill>
                <a:latin typeface="Montserrat Classic"/>
              </a:rPr>
              <a:t> </a:t>
            </a:r>
            <a:r>
              <a:rPr lang="en-US" sz="3299" dirty="0" err="1">
                <a:solidFill>
                  <a:srgbClr val="2D262A"/>
                </a:solidFill>
                <a:latin typeface="Montserrat Classic"/>
              </a:rPr>
              <a:t>dilakukan</a:t>
            </a:r>
            <a:r>
              <a:rPr lang="en-US" sz="3299" dirty="0">
                <a:solidFill>
                  <a:srgbClr val="2D262A"/>
                </a:solidFill>
                <a:latin typeface="Montserrat Classic"/>
              </a:rPr>
              <a:t> </a:t>
            </a:r>
            <a:r>
              <a:rPr lang="en-US" sz="3299" dirty="0" err="1">
                <a:solidFill>
                  <a:srgbClr val="2D262A"/>
                </a:solidFill>
                <a:latin typeface="Montserrat Classic"/>
              </a:rPr>
              <a:t>terlambat</a:t>
            </a:r>
            <a:r>
              <a:rPr lang="en-US" sz="3299" dirty="0">
                <a:solidFill>
                  <a:srgbClr val="2D262A"/>
                </a:solidFill>
                <a:latin typeface="Montserrat Classic"/>
              </a:rPr>
              <a:t>, </a:t>
            </a:r>
            <a:r>
              <a:rPr lang="en-US" sz="3299" dirty="0" err="1">
                <a:solidFill>
                  <a:srgbClr val="2D262A"/>
                </a:solidFill>
                <a:latin typeface="Montserrat Classic"/>
              </a:rPr>
              <a:t>maka</a:t>
            </a:r>
            <a:r>
              <a:rPr lang="en-US" sz="3299" dirty="0">
                <a:solidFill>
                  <a:srgbClr val="2D262A"/>
                </a:solidFill>
                <a:latin typeface="Montserrat Classic"/>
              </a:rPr>
              <a:t> </a:t>
            </a:r>
            <a:r>
              <a:rPr lang="en-US" sz="3299" dirty="0" err="1">
                <a:solidFill>
                  <a:srgbClr val="2D262A"/>
                </a:solidFill>
                <a:latin typeface="Montserrat Classic"/>
              </a:rPr>
              <a:t>akan</a:t>
            </a:r>
            <a:r>
              <a:rPr lang="en-US" sz="3299" dirty="0">
                <a:solidFill>
                  <a:srgbClr val="2D262A"/>
                </a:solidFill>
                <a:latin typeface="Montserrat Classic"/>
              </a:rPr>
              <a:t> </a:t>
            </a:r>
            <a:r>
              <a:rPr lang="en-US" sz="3299" dirty="0" err="1">
                <a:solidFill>
                  <a:srgbClr val="2D262A"/>
                </a:solidFill>
                <a:latin typeface="Montserrat Classic"/>
              </a:rPr>
              <a:t>ada</a:t>
            </a:r>
            <a:r>
              <a:rPr lang="en-US" sz="3299" dirty="0">
                <a:solidFill>
                  <a:srgbClr val="2D262A"/>
                </a:solidFill>
                <a:latin typeface="Montserrat Classic"/>
              </a:rPr>
              <a:t> </a:t>
            </a:r>
            <a:r>
              <a:rPr lang="en-US" sz="3299" dirty="0" err="1">
                <a:solidFill>
                  <a:srgbClr val="2D262A"/>
                </a:solidFill>
                <a:latin typeface="Montserrat Classic"/>
              </a:rPr>
              <a:t>potongan</a:t>
            </a:r>
            <a:r>
              <a:rPr lang="en-US" sz="3299" dirty="0">
                <a:solidFill>
                  <a:srgbClr val="2D262A"/>
                </a:solidFill>
                <a:latin typeface="Montserrat Classic"/>
              </a:rPr>
              <a:t> </a:t>
            </a:r>
            <a:r>
              <a:rPr lang="en-US" sz="3299" dirty="0" err="1">
                <a:solidFill>
                  <a:srgbClr val="2D262A"/>
                </a:solidFill>
                <a:latin typeface="Montserrat Classic"/>
              </a:rPr>
              <a:t>nilai</a:t>
            </a:r>
            <a:r>
              <a:rPr lang="en-US" sz="3299" dirty="0">
                <a:solidFill>
                  <a:srgbClr val="2D262A"/>
                </a:solidFill>
                <a:latin typeface="Montserrat Classic"/>
              </a:rPr>
              <a:t> </a:t>
            </a:r>
            <a:r>
              <a:rPr lang="en-US" sz="3299" dirty="0" err="1">
                <a:solidFill>
                  <a:srgbClr val="2D262A"/>
                </a:solidFill>
                <a:latin typeface="Montserrat Classic"/>
              </a:rPr>
              <a:t>sesuai</a:t>
            </a:r>
            <a:r>
              <a:rPr lang="en-US" sz="3299" dirty="0">
                <a:solidFill>
                  <a:srgbClr val="2D262A"/>
                </a:solidFill>
                <a:latin typeface="Montserrat Classic"/>
              </a:rPr>
              <a:t> </a:t>
            </a:r>
            <a:r>
              <a:rPr lang="en-US" sz="3299" dirty="0" err="1">
                <a:solidFill>
                  <a:srgbClr val="2D262A"/>
                </a:solidFill>
                <a:latin typeface="Montserrat Classic"/>
              </a:rPr>
              <a:t>dengan</a:t>
            </a:r>
            <a:r>
              <a:rPr lang="en-US" sz="3299" dirty="0">
                <a:solidFill>
                  <a:srgbClr val="2D262A"/>
                </a:solidFill>
                <a:latin typeface="Montserrat Classic"/>
              </a:rPr>
              <a:t> </a:t>
            </a:r>
            <a:r>
              <a:rPr lang="en-US" sz="3299" dirty="0" err="1">
                <a:solidFill>
                  <a:srgbClr val="2D262A"/>
                </a:solidFill>
                <a:latin typeface="Montserrat Classic"/>
              </a:rPr>
              <a:t>waktu</a:t>
            </a:r>
            <a:r>
              <a:rPr lang="en-US" sz="3299" dirty="0">
                <a:solidFill>
                  <a:srgbClr val="2D262A"/>
                </a:solidFill>
                <a:latin typeface="Montserrat Classic"/>
              </a:rPr>
              <a:t> </a:t>
            </a:r>
            <a:r>
              <a:rPr lang="en-US" sz="3299" dirty="0" err="1">
                <a:solidFill>
                  <a:srgbClr val="2D262A"/>
                </a:solidFill>
                <a:latin typeface="Montserrat Classic"/>
              </a:rPr>
              <a:t>keterlambatannya</a:t>
            </a:r>
            <a:r>
              <a:rPr lang="en-US" sz="3299" dirty="0">
                <a:solidFill>
                  <a:srgbClr val="2D262A"/>
                </a:solidFill>
                <a:latin typeface="Montserrat Classic"/>
              </a:rPr>
              <a:t>),</a:t>
            </a:r>
          </a:p>
          <a:p>
            <a:pPr marL="712465" lvl="1" indent="-356233">
              <a:lnSpc>
                <a:spcPts val="4619"/>
              </a:lnSpc>
              <a:buFont typeface="Arial"/>
              <a:buChar char="•"/>
            </a:pPr>
            <a:r>
              <a:rPr lang="en-US" sz="3299" dirty="0">
                <a:solidFill>
                  <a:srgbClr val="2D262A"/>
                </a:solidFill>
                <a:latin typeface="Montserrat Classic"/>
              </a:rPr>
              <a:t> </a:t>
            </a:r>
            <a:r>
              <a:rPr lang="en-US" sz="3299" dirty="0" err="1">
                <a:solidFill>
                  <a:srgbClr val="2D262A"/>
                </a:solidFill>
                <a:latin typeface="Montserrat Classic"/>
              </a:rPr>
              <a:t>Wajib</a:t>
            </a:r>
            <a:r>
              <a:rPr lang="en-US" sz="3299" dirty="0">
                <a:solidFill>
                  <a:srgbClr val="2D262A"/>
                </a:solidFill>
                <a:latin typeface="Montserrat Classic"/>
              </a:rPr>
              <a:t> </a:t>
            </a:r>
            <a:r>
              <a:rPr lang="en-US" sz="3299" dirty="0" err="1">
                <a:solidFill>
                  <a:srgbClr val="2D262A"/>
                </a:solidFill>
                <a:latin typeface="Montserrat Classic"/>
              </a:rPr>
              <a:t>menjaga</a:t>
            </a:r>
            <a:r>
              <a:rPr lang="en-US" sz="3299" dirty="0">
                <a:solidFill>
                  <a:srgbClr val="2D262A"/>
                </a:solidFill>
                <a:latin typeface="Montserrat Classic"/>
              </a:rPr>
              <a:t> </a:t>
            </a:r>
            <a:r>
              <a:rPr lang="en-US" sz="3299" dirty="0" err="1">
                <a:solidFill>
                  <a:srgbClr val="2D262A"/>
                </a:solidFill>
                <a:latin typeface="Montserrat Classic"/>
              </a:rPr>
              <a:t>kebersihan</a:t>
            </a:r>
            <a:r>
              <a:rPr lang="en-US" sz="3299" dirty="0">
                <a:solidFill>
                  <a:srgbClr val="2D262A"/>
                </a:solidFill>
                <a:latin typeface="Montserrat Classic"/>
              </a:rPr>
              <a:t> dan </a:t>
            </a:r>
            <a:r>
              <a:rPr lang="en-US" sz="3299" dirty="0" err="1">
                <a:solidFill>
                  <a:srgbClr val="2D262A"/>
                </a:solidFill>
                <a:latin typeface="Montserrat Classic"/>
              </a:rPr>
              <a:t>ketenangan</a:t>
            </a:r>
            <a:r>
              <a:rPr lang="en-US" sz="3299" dirty="0">
                <a:solidFill>
                  <a:srgbClr val="2D262A"/>
                </a:solidFill>
                <a:latin typeface="Montserrat Classic"/>
              </a:rPr>
              <a:t> </a:t>
            </a:r>
            <a:r>
              <a:rPr lang="en-US" sz="3299" dirty="0" err="1">
                <a:solidFill>
                  <a:srgbClr val="2D262A"/>
                </a:solidFill>
                <a:latin typeface="Montserrat Classic"/>
              </a:rPr>
              <a:t>kelas</a:t>
            </a:r>
            <a:r>
              <a:rPr lang="en-US" sz="3299" dirty="0">
                <a:solidFill>
                  <a:srgbClr val="2D262A"/>
                </a:solidFill>
                <a:latin typeface="Montserrat Classic"/>
              </a:rPr>
              <a:t>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574847"/>
            <a:ext cx="1856645" cy="68071"/>
            <a:chOff x="0" y="0"/>
            <a:chExt cx="488993" cy="1792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8993" cy="17928"/>
            </a:xfrm>
            <a:custGeom>
              <a:avLst/>
              <a:gdLst/>
              <a:ahLst/>
              <a:cxnLst/>
              <a:rect l="l" t="t" r="r" b="b"/>
              <a:pathLst>
                <a:path w="488993" h="17928">
                  <a:moveTo>
                    <a:pt x="0" y="0"/>
                  </a:moveTo>
                  <a:lnTo>
                    <a:pt x="488993" y="0"/>
                  </a:lnTo>
                  <a:lnTo>
                    <a:pt x="488993" y="17928"/>
                  </a:lnTo>
                  <a:lnTo>
                    <a:pt x="0" y="17928"/>
                  </a:lnTo>
                  <a:close/>
                </a:path>
              </a:pathLst>
            </a:custGeom>
            <a:solidFill>
              <a:srgbClr val="F9B314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8993" cy="560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28700" y="1971398"/>
            <a:ext cx="5922266" cy="529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947"/>
              </a:lnSpc>
            </a:pPr>
            <a:r>
              <a:rPr lang="en-US" sz="4200">
                <a:solidFill>
                  <a:srgbClr val="1211CA"/>
                </a:solidFill>
                <a:latin typeface="Montserrat Heavy"/>
              </a:rPr>
              <a:t>Jadwal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2605382"/>
            <a:ext cx="5922266" cy="529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947"/>
              </a:lnSpc>
            </a:pPr>
            <a:r>
              <a:rPr lang="en-US" sz="4200">
                <a:solidFill>
                  <a:srgbClr val="F9B314"/>
                </a:solidFill>
                <a:latin typeface="Montserrat Heavy"/>
              </a:rPr>
              <a:t>Ujian / Assessment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981075"/>
            <a:ext cx="7042449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359"/>
              </a:lnSpc>
            </a:pPr>
            <a:r>
              <a:rPr lang="en-US" sz="2400">
                <a:solidFill>
                  <a:srgbClr val="101010"/>
                </a:solidFill>
                <a:latin typeface="Montserrat Classic Bold"/>
              </a:rPr>
              <a:t>Universitas Logistik dan Bisnis Internasional</a:t>
            </a:r>
          </a:p>
        </p:txBody>
      </p:sp>
      <p:sp>
        <p:nvSpPr>
          <p:cNvPr id="8" name="Freeform 8"/>
          <p:cNvSpPr/>
          <p:nvPr/>
        </p:nvSpPr>
        <p:spPr>
          <a:xfrm>
            <a:off x="14787351" y="-318930"/>
            <a:ext cx="2185553" cy="2185553"/>
          </a:xfrm>
          <a:custGeom>
            <a:avLst/>
            <a:gdLst/>
            <a:ahLst/>
            <a:cxnLst/>
            <a:rect l="l" t="t" r="r" b="b"/>
            <a:pathLst>
              <a:path w="2185553" h="2185553">
                <a:moveTo>
                  <a:pt x="0" y="0"/>
                </a:moveTo>
                <a:lnTo>
                  <a:pt x="2185553" y="0"/>
                </a:lnTo>
                <a:lnTo>
                  <a:pt x="2185553" y="2185553"/>
                </a:lnTo>
                <a:lnTo>
                  <a:pt x="0" y="218555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grpSp>
        <p:nvGrpSpPr>
          <p:cNvPr id="9" name="Group 9"/>
          <p:cNvGrpSpPr/>
          <p:nvPr/>
        </p:nvGrpSpPr>
        <p:grpSpPr>
          <a:xfrm>
            <a:off x="14500955" y="1451912"/>
            <a:ext cx="2758345" cy="245871"/>
            <a:chOff x="0" y="0"/>
            <a:chExt cx="726478" cy="6475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726478" cy="64756"/>
            </a:xfrm>
            <a:custGeom>
              <a:avLst/>
              <a:gdLst/>
              <a:ahLst/>
              <a:cxnLst/>
              <a:rect l="l" t="t" r="r" b="b"/>
              <a:pathLst>
                <a:path w="726478" h="64756">
                  <a:moveTo>
                    <a:pt x="0" y="0"/>
                  </a:moveTo>
                  <a:lnTo>
                    <a:pt x="726478" y="0"/>
                  </a:lnTo>
                  <a:lnTo>
                    <a:pt x="726478" y="64756"/>
                  </a:lnTo>
                  <a:lnTo>
                    <a:pt x="0" y="64756"/>
                  </a:lnTo>
                  <a:close/>
                </a:path>
              </a:pathLst>
            </a:custGeom>
            <a:solidFill>
              <a:srgbClr val="F9B314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726478" cy="1028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910845" y="3696566"/>
            <a:ext cx="16670443" cy="12611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77234" lvl="1" indent="-388617">
              <a:lnSpc>
                <a:spcPts val="5039"/>
              </a:lnSpc>
              <a:buFont typeface="Arial"/>
              <a:buChar char="•"/>
            </a:pPr>
            <a:r>
              <a:rPr lang="en-US" sz="3599" dirty="0">
                <a:solidFill>
                  <a:srgbClr val="2D262A"/>
                </a:solidFill>
                <a:latin typeface="Montserrat Classic"/>
              </a:rPr>
              <a:t>UTS </a:t>
            </a:r>
            <a:r>
              <a:rPr lang="en-US" sz="3599" dirty="0" err="1">
                <a:solidFill>
                  <a:srgbClr val="2D262A"/>
                </a:solidFill>
                <a:latin typeface="Montserrat Classic"/>
              </a:rPr>
              <a:t>dilakukan</a:t>
            </a:r>
            <a:r>
              <a:rPr lang="en-US" sz="3599" dirty="0">
                <a:solidFill>
                  <a:srgbClr val="2D262A"/>
                </a:solidFill>
                <a:latin typeface="Montserrat Classic"/>
              </a:rPr>
              <a:t> </a:t>
            </a:r>
            <a:r>
              <a:rPr lang="en-US" sz="3599" dirty="0" err="1">
                <a:solidFill>
                  <a:srgbClr val="2D262A"/>
                </a:solidFill>
                <a:latin typeface="Montserrat Classic"/>
              </a:rPr>
              <a:t>setelah</a:t>
            </a:r>
            <a:r>
              <a:rPr lang="en-US" sz="3599" dirty="0">
                <a:solidFill>
                  <a:srgbClr val="2D262A"/>
                </a:solidFill>
                <a:latin typeface="Montserrat Classic"/>
              </a:rPr>
              <a:t> </a:t>
            </a:r>
            <a:r>
              <a:rPr lang="en-US" sz="3599" dirty="0" err="1">
                <a:solidFill>
                  <a:srgbClr val="2D262A"/>
                </a:solidFill>
                <a:latin typeface="Montserrat Classic"/>
              </a:rPr>
              <a:t>pertemuan</a:t>
            </a:r>
            <a:r>
              <a:rPr lang="en-US" sz="3599" dirty="0">
                <a:solidFill>
                  <a:srgbClr val="2D262A"/>
                </a:solidFill>
                <a:latin typeface="Montserrat Classic"/>
              </a:rPr>
              <a:t> ke-7</a:t>
            </a:r>
          </a:p>
          <a:p>
            <a:pPr marL="777234" lvl="1" indent="-388617">
              <a:lnSpc>
                <a:spcPts val="5039"/>
              </a:lnSpc>
              <a:buFont typeface="Arial"/>
              <a:buChar char="•"/>
            </a:pPr>
            <a:r>
              <a:rPr lang="en-US" sz="3599" dirty="0">
                <a:solidFill>
                  <a:srgbClr val="2D262A"/>
                </a:solidFill>
                <a:latin typeface="Montserrat Classic"/>
              </a:rPr>
              <a:t>UAS </a:t>
            </a:r>
            <a:r>
              <a:rPr lang="en-US" sz="3599" dirty="0" err="1">
                <a:solidFill>
                  <a:srgbClr val="2D262A"/>
                </a:solidFill>
                <a:latin typeface="Montserrat Classic"/>
              </a:rPr>
              <a:t>dilakukan</a:t>
            </a:r>
            <a:r>
              <a:rPr lang="en-US" sz="3599" dirty="0">
                <a:solidFill>
                  <a:srgbClr val="2D262A"/>
                </a:solidFill>
                <a:latin typeface="Montserrat Classic"/>
              </a:rPr>
              <a:t> </a:t>
            </a:r>
            <a:r>
              <a:rPr lang="en-US" sz="3599" dirty="0" err="1">
                <a:solidFill>
                  <a:srgbClr val="2D262A"/>
                </a:solidFill>
                <a:latin typeface="Montserrat Classic"/>
              </a:rPr>
              <a:t>setelah</a:t>
            </a:r>
            <a:r>
              <a:rPr lang="en-US" sz="3599" dirty="0">
                <a:solidFill>
                  <a:srgbClr val="2D262A"/>
                </a:solidFill>
                <a:latin typeface="Montserrat Classic"/>
              </a:rPr>
              <a:t> </a:t>
            </a:r>
            <a:r>
              <a:rPr lang="en-US" sz="3599" dirty="0" err="1">
                <a:solidFill>
                  <a:srgbClr val="2D262A"/>
                </a:solidFill>
                <a:latin typeface="Montserrat Classic"/>
              </a:rPr>
              <a:t>pertemuan</a:t>
            </a:r>
            <a:r>
              <a:rPr lang="en-US" sz="3599" dirty="0">
                <a:solidFill>
                  <a:srgbClr val="2D262A"/>
                </a:solidFill>
                <a:latin typeface="Montserrat Classic"/>
              </a:rPr>
              <a:t> ke-14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574847"/>
            <a:ext cx="1856645" cy="68071"/>
            <a:chOff x="0" y="0"/>
            <a:chExt cx="488993" cy="1792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8993" cy="17928"/>
            </a:xfrm>
            <a:custGeom>
              <a:avLst/>
              <a:gdLst/>
              <a:ahLst/>
              <a:cxnLst/>
              <a:rect l="l" t="t" r="r" b="b"/>
              <a:pathLst>
                <a:path w="488993" h="17928">
                  <a:moveTo>
                    <a:pt x="0" y="0"/>
                  </a:moveTo>
                  <a:lnTo>
                    <a:pt x="488993" y="0"/>
                  </a:lnTo>
                  <a:lnTo>
                    <a:pt x="488993" y="17928"/>
                  </a:lnTo>
                  <a:lnTo>
                    <a:pt x="0" y="17928"/>
                  </a:lnTo>
                  <a:close/>
                </a:path>
              </a:pathLst>
            </a:custGeom>
            <a:solidFill>
              <a:srgbClr val="F9B314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8993" cy="560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4787351" y="-318930"/>
            <a:ext cx="2185553" cy="2185553"/>
          </a:xfrm>
          <a:custGeom>
            <a:avLst/>
            <a:gdLst/>
            <a:ahLst/>
            <a:cxnLst/>
            <a:rect l="l" t="t" r="r" b="b"/>
            <a:pathLst>
              <a:path w="2185553" h="2185553">
                <a:moveTo>
                  <a:pt x="0" y="0"/>
                </a:moveTo>
                <a:lnTo>
                  <a:pt x="2185553" y="0"/>
                </a:lnTo>
                <a:lnTo>
                  <a:pt x="2185553" y="2185553"/>
                </a:lnTo>
                <a:lnTo>
                  <a:pt x="0" y="218555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grpSp>
        <p:nvGrpSpPr>
          <p:cNvPr id="6" name="Group 6"/>
          <p:cNvGrpSpPr/>
          <p:nvPr/>
        </p:nvGrpSpPr>
        <p:grpSpPr>
          <a:xfrm>
            <a:off x="14500955" y="1451912"/>
            <a:ext cx="2758345" cy="245871"/>
            <a:chOff x="0" y="0"/>
            <a:chExt cx="726478" cy="6475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26478" cy="64756"/>
            </a:xfrm>
            <a:custGeom>
              <a:avLst/>
              <a:gdLst/>
              <a:ahLst/>
              <a:cxnLst/>
              <a:rect l="l" t="t" r="r" b="b"/>
              <a:pathLst>
                <a:path w="726478" h="64756">
                  <a:moveTo>
                    <a:pt x="0" y="0"/>
                  </a:moveTo>
                  <a:lnTo>
                    <a:pt x="726478" y="0"/>
                  </a:lnTo>
                  <a:lnTo>
                    <a:pt x="726478" y="64756"/>
                  </a:lnTo>
                  <a:lnTo>
                    <a:pt x="0" y="64756"/>
                  </a:lnTo>
                  <a:close/>
                </a:path>
              </a:pathLst>
            </a:custGeom>
            <a:solidFill>
              <a:srgbClr val="F9B314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726478" cy="1028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028700" y="1971398"/>
            <a:ext cx="7858451" cy="529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947"/>
              </a:lnSpc>
            </a:pPr>
            <a:r>
              <a:rPr lang="en-US" sz="4200">
                <a:solidFill>
                  <a:srgbClr val="1211CA"/>
                </a:solidFill>
                <a:latin typeface="Montserrat Heavy"/>
              </a:rPr>
              <a:t>Persiapan Perkuliahan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981075"/>
            <a:ext cx="7042449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359"/>
              </a:lnSpc>
            </a:pPr>
            <a:r>
              <a:rPr lang="en-US" sz="2400">
                <a:solidFill>
                  <a:srgbClr val="101010"/>
                </a:solidFill>
                <a:latin typeface="Montserrat Classic Bold"/>
              </a:rPr>
              <a:t>Universitas Logistik dan Bisnis Internasional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08778" y="3343002"/>
            <a:ext cx="16670443" cy="12611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77234" lvl="1" indent="-388617">
              <a:lnSpc>
                <a:spcPts val="5039"/>
              </a:lnSpc>
              <a:buFont typeface="Arial"/>
              <a:buChar char="•"/>
            </a:pPr>
            <a:r>
              <a:rPr lang="en-US" sz="3599">
                <a:solidFill>
                  <a:srgbClr val="2D262A"/>
                </a:solidFill>
                <a:latin typeface="Montserrat Classic"/>
              </a:rPr>
              <a:t>RAM minimal 8GB</a:t>
            </a:r>
          </a:p>
          <a:p>
            <a:pPr marL="777234" lvl="1" indent="-388617">
              <a:lnSpc>
                <a:spcPts val="5039"/>
              </a:lnSpc>
              <a:buFont typeface="Arial"/>
              <a:buChar char="•"/>
            </a:pPr>
            <a:r>
              <a:rPr lang="en-US" sz="3599" dirty="0">
                <a:solidFill>
                  <a:srgbClr val="2D262A"/>
                </a:solidFill>
                <a:latin typeface="Montserrat Classic"/>
              </a:rPr>
              <a:t>OS : Windows 10 or Later , Linux, MAC OS X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2995910"/>
            <a:ext cx="7405958" cy="423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102"/>
              </a:lnSpc>
            </a:pPr>
            <a:r>
              <a:rPr lang="en-US" sz="3300">
                <a:solidFill>
                  <a:srgbClr val="F9B314"/>
                </a:solidFill>
                <a:latin typeface="Montserrat Heavy"/>
              </a:rPr>
              <a:t>Spek Laptop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08778" y="5566792"/>
            <a:ext cx="7262370" cy="18851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77234" lvl="1" indent="-388617">
              <a:lnSpc>
                <a:spcPts val="5039"/>
              </a:lnSpc>
              <a:buFont typeface="Arial"/>
              <a:buChar char="•"/>
            </a:pPr>
            <a:r>
              <a:rPr lang="en-US" sz="3599" dirty="0">
                <a:solidFill>
                  <a:srgbClr val="2D262A"/>
                </a:solidFill>
                <a:latin typeface="Montserrat Classic"/>
              </a:rPr>
              <a:t>VS Code / </a:t>
            </a:r>
            <a:r>
              <a:rPr lang="en-US" sz="3599" dirty="0" err="1">
                <a:solidFill>
                  <a:srgbClr val="2D262A"/>
                </a:solidFill>
                <a:latin typeface="Montserrat Classic"/>
              </a:rPr>
              <a:t>Goland</a:t>
            </a:r>
            <a:endParaRPr lang="en-US" sz="3599" dirty="0">
              <a:solidFill>
                <a:srgbClr val="2D262A"/>
              </a:solidFill>
              <a:latin typeface="Montserrat Classic"/>
            </a:endParaRPr>
          </a:p>
          <a:p>
            <a:pPr marL="777234" lvl="1" indent="-388617">
              <a:lnSpc>
                <a:spcPts val="5039"/>
              </a:lnSpc>
              <a:buFont typeface="Arial"/>
              <a:buChar char="•"/>
            </a:pPr>
            <a:r>
              <a:rPr lang="en-US" sz="3599" dirty="0">
                <a:solidFill>
                  <a:srgbClr val="2D262A"/>
                </a:solidFill>
                <a:latin typeface="Montserrat Classic"/>
              </a:rPr>
              <a:t>Postman</a:t>
            </a:r>
          </a:p>
          <a:p>
            <a:pPr marL="777234" lvl="1" indent="-388617">
              <a:lnSpc>
                <a:spcPts val="5039"/>
              </a:lnSpc>
              <a:buFont typeface="Arial"/>
              <a:buChar char="•"/>
            </a:pPr>
            <a:r>
              <a:rPr lang="en-US" sz="3599" dirty="0">
                <a:solidFill>
                  <a:srgbClr val="2D262A"/>
                </a:solidFill>
                <a:latin typeface="Montserrat Classic"/>
              </a:rPr>
              <a:t>Browser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28700" y="5219700"/>
            <a:ext cx="7405958" cy="423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102"/>
              </a:lnSpc>
            </a:pPr>
            <a:r>
              <a:rPr lang="en-US" sz="3300">
                <a:solidFill>
                  <a:srgbClr val="F9B314"/>
                </a:solidFill>
                <a:latin typeface="Montserrat Heavy"/>
              </a:rPr>
              <a:t>Tools yang digunakan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637FDF3-DD00-E7DB-8015-107B4712D6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48481" y="3731348"/>
            <a:ext cx="6110819" cy="61474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574847"/>
            <a:ext cx="1856645" cy="68071"/>
            <a:chOff x="0" y="0"/>
            <a:chExt cx="488993" cy="1792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8993" cy="17928"/>
            </a:xfrm>
            <a:custGeom>
              <a:avLst/>
              <a:gdLst/>
              <a:ahLst/>
              <a:cxnLst/>
              <a:rect l="l" t="t" r="r" b="b"/>
              <a:pathLst>
                <a:path w="488993" h="17928">
                  <a:moveTo>
                    <a:pt x="0" y="0"/>
                  </a:moveTo>
                  <a:lnTo>
                    <a:pt x="488993" y="0"/>
                  </a:lnTo>
                  <a:lnTo>
                    <a:pt x="488993" y="17928"/>
                  </a:lnTo>
                  <a:lnTo>
                    <a:pt x="0" y="17928"/>
                  </a:lnTo>
                  <a:close/>
                </a:path>
              </a:pathLst>
            </a:custGeom>
            <a:solidFill>
              <a:srgbClr val="F9B314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8993" cy="560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28700" y="1971398"/>
            <a:ext cx="5922266" cy="529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947"/>
              </a:lnSpc>
            </a:pPr>
            <a:r>
              <a:rPr lang="en-US" sz="4200" dirty="0" err="1">
                <a:solidFill>
                  <a:srgbClr val="1211CA"/>
                </a:solidFill>
                <a:latin typeface="Montserrat Heavy"/>
              </a:rPr>
              <a:t>Tambahan</a:t>
            </a:r>
            <a:endParaRPr lang="en-US" sz="4200" dirty="0">
              <a:solidFill>
                <a:srgbClr val="1211CA"/>
              </a:solidFill>
              <a:latin typeface="Montserrat Heavy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028700" y="981075"/>
            <a:ext cx="7042449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359"/>
              </a:lnSpc>
            </a:pPr>
            <a:r>
              <a:rPr lang="en-US" sz="2400">
                <a:solidFill>
                  <a:srgbClr val="101010"/>
                </a:solidFill>
                <a:latin typeface="Montserrat Classic Bold"/>
              </a:rPr>
              <a:t>Universitas Logistik dan Bisnis Internasional</a:t>
            </a:r>
          </a:p>
        </p:txBody>
      </p:sp>
      <p:sp>
        <p:nvSpPr>
          <p:cNvPr id="7" name="Freeform 7"/>
          <p:cNvSpPr/>
          <p:nvPr/>
        </p:nvSpPr>
        <p:spPr>
          <a:xfrm>
            <a:off x="14787351" y="-318930"/>
            <a:ext cx="2185553" cy="2185553"/>
          </a:xfrm>
          <a:custGeom>
            <a:avLst/>
            <a:gdLst/>
            <a:ahLst/>
            <a:cxnLst/>
            <a:rect l="l" t="t" r="r" b="b"/>
            <a:pathLst>
              <a:path w="2185553" h="2185553">
                <a:moveTo>
                  <a:pt x="0" y="0"/>
                </a:moveTo>
                <a:lnTo>
                  <a:pt x="2185553" y="0"/>
                </a:lnTo>
                <a:lnTo>
                  <a:pt x="2185553" y="2185553"/>
                </a:lnTo>
                <a:lnTo>
                  <a:pt x="0" y="21855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grpSp>
        <p:nvGrpSpPr>
          <p:cNvPr id="8" name="Group 8"/>
          <p:cNvGrpSpPr/>
          <p:nvPr/>
        </p:nvGrpSpPr>
        <p:grpSpPr>
          <a:xfrm>
            <a:off x="14500955" y="1451912"/>
            <a:ext cx="2758345" cy="245871"/>
            <a:chOff x="0" y="0"/>
            <a:chExt cx="726478" cy="6475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26478" cy="64756"/>
            </a:xfrm>
            <a:custGeom>
              <a:avLst/>
              <a:gdLst/>
              <a:ahLst/>
              <a:cxnLst/>
              <a:rect l="l" t="t" r="r" b="b"/>
              <a:pathLst>
                <a:path w="726478" h="64756">
                  <a:moveTo>
                    <a:pt x="0" y="0"/>
                  </a:moveTo>
                  <a:lnTo>
                    <a:pt x="726478" y="0"/>
                  </a:lnTo>
                  <a:lnTo>
                    <a:pt x="726478" y="64756"/>
                  </a:lnTo>
                  <a:lnTo>
                    <a:pt x="0" y="64756"/>
                  </a:lnTo>
                  <a:close/>
                </a:path>
              </a:pathLst>
            </a:custGeom>
            <a:solidFill>
              <a:srgbClr val="F9B314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726478" cy="1028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808778" y="2900657"/>
            <a:ext cx="16670443" cy="69944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77234" lvl="1" indent="-388617">
              <a:lnSpc>
                <a:spcPts val="5039"/>
              </a:lnSpc>
              <a:buFont typeface="Arial"/>
              <a:buChar char="•"/>
            </a:pPr>
            <a:r>
              <a:rPr lang="en-US" sz="3000" dirty="0" err="1">
                <a:solidFill>
                  <a:srgbClr val="2D262A"/>
                </a:solidFill>
                <a:latin typeface="Montserrat Classic"/>
              </a:rPr>
              <a:t>Materi</a:t>
            </a:r>
            <a:r>
              <a:rPr lang="en-US" sz="3000" dirty="0">
                <a:solidFill>
                  <a:srgbClr val="2D262A"/>
                </a:solidFill>
                <a:latin typeface="Montserrat Classic"/>
              </a:rPr>
              <a:t> </a:t>
            </a:r>
            <a:r>
              <a:rPr lang="en-US" sz="3000" dirty="0" err="1">
                <a:solidFill>
                  <a:srgbClr val="2D262A"/>
                </a:solidFill>
                <a:latin typeface="Montserrat Classic"/>
              </a:rPr>
              <a:t>kuliah</a:t>
            </a:r>
            <a:r>
              <a:rPr lang="en-US" sz="3000" dirty="0">
                <a:solidFill>
                  <a:srgbClr val="2D262A"/>
                </a:solidFill>
                <a:latin typeface="Montserrat Classic"/>
              </a:rPr>
              <a:t> via </a:t>
            </a:r>
            <a:r>
              <a:rPr lang="en-US" sz="3000" dirty="0" err="1">
                <a:solidFill>
                  <a:srgbClr val="2D262A"/>
                </a:solidFill>
                <a:latin typeface="Montserrat Classic"/>
              </a:rPr>
              <a:t>Siakad</a:t>
            </a:r>
            <a:r>
              <a:rPr lang="en-US" sz="3000" dirty="0">
                <a:solidFill>
                  <a:srgbClr val="2D262A"/>
                </a:solidFill>
                <a:latin typeface="Montserrat Classic"/>
              </a:rPr>
              <a:t> (</a:t>
            </a:r>
            <a:r>
              <a:rPr lang="en-US" sz="3000" dirty="0" err="1">
                <a:solidFill>
                  <a:srgbClr val="2D262A"/>
                </a:solidFill>
                <a:latin typeface="Montserrat Classic"/>
              </a:rPr>
              <a:t>Edlink</a:t>
            </a:r>
            <a:r>
              <a:rPr lang="en-US" sz="3000" dirty="0">
                <a:solidFill>
                  <a:srgbClr val="2D262A"/>
                </a:solidFill>
                <a:latin typeface="Montserrat Classic"/>
              </a:rPr>
              <a:t>)</a:t>
            </a:r>
          </a:p>
          <a:p>
            <a:pPr marL="777234" lvl="1" indent="-388617">
              <a:lnSpc>
                <a:spcPts val="5039"/>
              </a:lnSpc>
              <a:buFont typeface="Arial"/>
              <a:buChar char="•"/>
            </a:pPr>
            <a:r>
              <a:rPr lang="en-US" sz="3000" dirty="0" err="1">
                <a:solidFill>
                  <a:srgbClr val="2D262A"/>
                </a:solidFill>
                <a:latin typeface="Montserrat Classic"/>
              </a:rPr>
              <a:t>Tugas</a:t>
            </a:r>
            <a:r>
              <a:rPr lang="en-US" sz="3000" dirty="0">
                <a:solidFill>
                  <a:srgbClr val="2D262A"/>
                </a:solidFill>
                <a:latin typeface="Montserrat Classic"/>
              </a:rPr>
              <a:t> </a:t>
            </a:r>
            <a:r>
              <a:rPr lang="en-US" sz="3000" dirty="0" err="1">
                <a:solidFill>
                  <a:srgbClr val="2D262A"/>
                </a:solidFill>
                <a:latin typeface="Montserrat Classic"/>
              </a:rPr>
              <a:t>kuliah</a:t>
            </a:r>
            <a:r>
              <a:rPr lang="en-US" sz="3000" dirty="0">
                <a:solidFill>
                  <a:srgbClr val="2D262A"/>
                </a:solidFill>
                <a:latin typeface="Montserrat Classic"/>
              </a:rPr>
              <a:t> </a:t>
            </a:r>
            <a:r>
              <a:rPr lang="en-US" sz="3000" dirty="0" err="1">
                <a:solidFill>
                  <a:srgbClr val="2D262A"/>
                </a:solidFill>
                <a:latin typeface="Montserrat Classic"/>
              </a:rPr>
              <a:t>dikumpulkan</a:t>
            </a:r>
            <a:r>
              <a:rPr lang="en-US" sz="3000" dirty="0">
                <a:solidFill>
                  <a:srgbClr val="2D262A"/>
                </a:solidFill>
                <a:latin typeface="Montserrat Classic"/>
              </a:rPr>
              <a:t> via </a:t>
            </a:r>
            <a:r>
              <a:rPr lang="en-US" sz="3000" dirty="0" err="1">
                <a:solidFill>
                  <a:srgbClr val="2D262A"/>
                </a:solidFill>
                <a:latin typeface="Montserrat Classic"/>
              </a:rPr>
              <a:t>Siakad</a:t>
            </a:r>
            <a:r>
              <a:rPr lang="en-US" sz="3000" dirty="0">
                <a:solidFill>
                  <a:srgbClr val="2D262A"/>
                </a:solidFill>
                <a:latin typeface="Montserrat Classic"/>
              </a:rPr>
              <a:t> (</a:t>
            </a:r>
            <a:r>
              <a:rPr lang="en-US" sz="3000" dirty="0" err="1">
                <a:solidFill>
                  <a:srgbClr val="2D262A"/>
                </a:solidFill>
                <a:latin typeface="Montserrat Classic"/>
              </a:rPr>
              <a:t>Edlink</a:t>
            </a:r>
            <a:r>
              <a:rPr lang="en-US" sz="3000" dirty="0">
                <a:solidFill>
                  <a:srgbClr val="2D262A"/>
                </a:solidFill>
                <a:latin typeface="Montserrat Classic"/>
              </a:rPr>
              <a:t>) </a:t>
            </a:r>
            <a:r>
              <a:rPr lang="en-US" sz="3000" dirty="0" err="1">
                <a:solidFill>
                  <a:srgbClr val="2D262A"/>
                </a:solidFill>
                <a:latin typeface="Montserrat Classic"/>
              </a:rPr>
              <a:t>atau</a:t>
            </a:r>
            <a:r>
              <a:rPr lang="en-US" sz="3000" dirty="0">
                <a:solidFill>
                  <a:srgbClr val="2D262A"/>
                </a:solidFill>
                <a:latin typeface="Montserrat Classic"/>
              </a:rPr>
              <a:t> </a:t>
            </a:r>
            <a:r>
              <a:rPr lang="en-US" sz="3000" dirty="0" err="1">
                <a:solidFill>
                  <a:srgbClr val="2D262A"/>
                </a:solidFill>
                <a:latin typeface="Montserrat Classic"/>
              </a:rPr>
              <a:t>Github</a:t>
            </a:r>
            <a:endParaRPr lang="en-US" sz="3000" dirty="0">
              <a:solidFill>
                <a:srgbClr val="2D262A"/>
              </a:solidFill>
              <a:latin typeface="Montserrat Classic"/>
            </a:endParaRPr>
          </a:p>
          <a:p>
            <a:pPr marL="777234" lvl="1" indent="-388617">
              <a:lnSpc>
                <a:spcPts val="5039"/>
              </a:lnSpc>
              <a:buFont typeface="Arial"/>
              <a:buChar char="•"/>
            </a:pPr>
            <a:r>
              <a:rPr lang="en-US" sz="3000" dirty="0" err="1">
                <a:solidFill>
                  <a:srgbClr val="2D262A"/>
                </a:solidFill>
                <a:latin typeface="Montserrat Classic"/>
              </a:rPr>
              <a:t>Diskusi</a:t>
            </a:r>
            <a:r>
              <a:rPr lang="en-US" sz="3000" dirty="0">
                <a:solidFill>
                  <a:srgbClr val="2D262A"/>
                </a:solidFill>
                <a:latin typeface="Montserrat Classic"/>
              </a:rPr>
              <a:t> dan </a:t>
            </a:r>
            <a:r>
              <a:rPr lang="en-US" sz="3000" dirty="0" err="1">
                <a:solidFill>
                  <a:srgbClr val="2D262A"/>
                </a:solidFill>
                <a:latin typeface="Montserrat Classic"/>
              </a:rPr>
              <a:t>pertanyaan</a:t>
            </a:r>
            <a:r>
              <a:rPr lang="en-US" sz="3000" dirty="0">
                <a:solidFill>
                  <a:srgbClr val="2D262A"/>
                </a:solidFill>
                <a:latin typeface="Montserrat Classic"/>
              </a:rPr>
              <a:t> </a:t>
            </a:r>
            <a:r>
              <a:rPr lang="en-US" sz="3000" dirty="0" err="1">
                <a:solidFill>
                  <a:srgbClr val="2D262A"/>
                </a:solidFill>
                <a:latin typeface="Montserrat Classic"/>
              </a:rPr>
              <a:t>mengenai</a:t>
            </a:r>
            <a:r>
              <a:rPr lang="en-US" sz="3000" dirty="0">
                <a:solidFill>
                  <a:srgbClr val="2D262A"/>
                </a:solidFill>
                <a:latin typeface="Montserrat Classic"/>
              </a:rPr>
              <a:t> </a:t>
            </a:r>
            <a:r>
              <a:rPr lang="en-US" sz="3000" dirty="0" err="1">
                <a:solidFill>
                  <a:srgbClr val="2D262A"/>
                </a:solidFill>
                <a:latin typeface="Montserrat Classic"/>
              </a:rPr>
              <a:t>materi</a:t>
            </a:r>
            <a:r>
              <a:rPr lang="en-US" sz="3000" dirty="0">
                <a:solidFill>
                  <a:srgbClr val="2D262A"/>
                </a:solidFill>
                <a:latin typeface="Montserrat Classic"/>
              </a:rPr>
              <a:t> </a:t>
            </a:r>
            <a:r>
              <a:rPr lang="en-US" sz="3000" dirty="0" err="1">
                <a:solidFill>
                  <a:srgbClr val="2D262A"/>
                </a:solidFill>
                <a:latin typeface="Montserrat Classic"/>
              </a:rPr>
              <a:t>atau</a:t>
            </a:r>
            <a:r>
              <a:rPr lang="en-US" sz="3000" dirty="0">
                <a:solidFill>
                  <a:srgbClr val="2D262A"/>
                </a:solidFill>
                <a:latin typeface="Montserrat Classic"/>
              </a:rPr>
              <a:t> </a:t>
            </a:r>
            <a:r>
              <a:rPr lang="en-US" sz="3000" dirty="0" err="1">
                <a:solidFill>
                  <a:srgbClr val="2D262A"/>
                </a:solidFill>
                <a:latin typeface="Montserrat Classic"/>
              </a:rPr>
              <a:t>tugas</a:t>
            </a:r>
            <a:r>
              <a:rPr lang="en-US" sz="3000" dirty="0">
                <a:solidFill>
                  <a:srgbClr val="2D262A"/>
                </a:solidFill>
                <a:latin typeface="Montserrat Classic"/>
              </a:rPr>
              <a:t> </a:t>
            </a:r>
            <a:r>
              <a:rPr lang="en-US" sz="3000" dirty="0" err="1">
                <a:solidFill>
                  <a:srgbClr val="2D262A"/>
                </a:solidFill>
                <a:latin typeface="Montserrat Classic"/>
              </a:rPr>
              <a:t>dapat</a:t>
            </a:r>
            <a:r>
              <a:rPr lang="en-US" sz="3000" dirty="0">
                <a:solidFill>
                  <a:srgbClr val="2D262A"/>
                </a:solidFill>
                <a:latin typeface="Montserrat Classic"/>
              </a:rPr>
              <a:t> </a:t>
            </a:r>
            <a:r>
              <a:rPr lang="en-US" sz="3000" dirty="0" err="1">
                <a:solidFill>
                  <a:srgbClr val="2D262A"/>
                </a:solidFill>
                <a:latin typeface="Montserrat Classic"/>
              </a:rPr>
              <a:t>dilakukan</a:t>
            </a:r>
            <a:r>
              <a:rPr lang="en-US" sz="3000" dirty="0">
                <a:solidFill>
                  <a:srgbClr val="2D262A"/>
                </a:solidFill>
                <a:latin typeface="Montserrat Classic"/>
              </a:rPr>
              <a:t> </a:t>
            </a:r>
            <a:r>
              <a:rPr lang="en-US" sz="3000" dirty="0" err="1">
                <a:solidFill>
                  <a:srgbClr val="2D262A"/>
                </a:solidFill>
                <a:latin typeface="Montserrat Classic"/>
              </a:rPr>
              <a:t>melalui</a:t>
            </a:r>
            <a:r>
              <a:rPr lang="en-US" sz="3000" dirty="0">
                <a:solidFill>
                  <a:srgbClr val="2D262A"/>
                </a:solidFill>
                <a:latin typeface="Montserrat Classic"/>
              </a:rPr>
              <a:t> forum </a:t>
            </a:r>
            <a:r>
              <a:rPr lang="en-US" sz="3000" dirty="0" err="1">
                <a:solidFill>
                  <a:srgbClr val="2D262A"/>
                </a:solidFill>
                <a:latin typeface="Montserrat Classic"/>
              </a:rPr>
              <a:t>diskusi</a:t>
            </a:r>
            <a:r>
              <a:rPr lang="en-US" sz="3000" dirty="0">
                <a:solidFill>
                  <a:srgbClr val="2D262A"/>
                </a:solidFill>
                <a:latin typeface="Montserrat Classic"/>
              </a:rPr>
              <a:t> </a:t>
            </a:r>
            <a:r>
              <a:rPr lang="en-US" sz="3000" dirty="0" err="1">
                <a:solidFill>
                  <a:srgbClr val="2D262A"/>
                </a:solidFill>
                <a:latin typeface="Montserrat Classic"/>
              </a:rPr>
              <a:t>Edlink</a:t>
            </a:r>
            <a:r>
              <a:rPr lang="en-US" sz="3000" dirty="0">
                <a:solidFill>
                  <a:srgbClr val="2D262A"/>
                </a:solidFill>
                <a:latin typeface="Montserrat Classic"/>
              </a:rPr>
              <a:t> </a:t>
            </a:r>
            <a:r>
              <a:rPr lang="en-US" sz="3000" dirty="0" err="1">
                <a:solidFill>
                  <a:srgbClr val="2D262A"/>
                </a:solidFill>
                <a:latin typeface="Montserrat Classic"/>
              </a:rPr>
              <a:t>atau</a:t>
            </a:r>
            <a:r>
              <a:rPr lang="en-US" sz="3000" dirty="0">
                <a:solidFill>
                  <a:srgbClr val="2D262A"/>
                </a:solidFill>
                <a:latin typeface="Montserrat Classic"/>
              </a:rPr>
              <a:t> </a:t>
            </a:r>
            <a:r>
              <a:rPr lang="en-US" sz="3000" dirty="0" err="1">
                <a:solidFill>
                  <a:srgbClr val="2D262A"/>
                </a:solidFill>
                <a:latin typeface="Montserrat Classic"/>
              </a:rPr>
              <a:t>langsung</a:t>
            </a:r>
            <a:r>
              <a:rPr lang="en-US" sz="3000" dirty="0">
                <a:solidFill>
                  <a:srgbClr val="2D262A"/>
                </a:solidFill>
                <a:latin typeface="Montserrat Classic"/>
              </a:rPr>
              <a:t> </a:t>
            </a:r>
            <a:r>
              <a:rPr lang="en-US" sz="3000" dirty="0" err="1">
                <a:solidFill>
                  <a:srgbClr val="2D262A"/>
                </a:solidFill>
                <a:latin typeface="Montserrat Classic"/>
              </a:rPr>
              <a:t>saat</a:t>
            </a:r>
            <a:r>
              <a:rPr lang="en-US" sz="3000" dirty="0">
                <a:solidFill>
                  <a:srgbClr val="2D262A"/>
                </a:solidFill>
                <a:latin typeface="Montserrat Classic"/>
              </a:rPr>
              <a:t> </a:t>
            </a:r>
            <a:r>
              <a:rPr lang="en-US" sz="3000" dirty="0" err="1">
                <a:solidFill>
                  <a:srgbClr val="2D262A"/>
                </a:solidFill>
                <a:latin typeface="Montserrat Classic"/>
              </a:rPr>
              <a:t>perkuliahan</a:t>
            </a:r>
            <a:r>
              <a:rPr lang="en-US" sz="3000" dirty="0">
                <a:solidFill>
                  <a:srgbClr val="2D262A"/>
                </a:solidFill>
                <a:latin typeface="Montserrat Classic"/>
              </a:rPr>
              <a:t>.</a:t>
            </a:r>
          </a:p>
          <a:p>
            <a:pPr marL="777234" lvl="1" indent="-388617">
              <a:lnSpc>
                <a:spcPts val="5039"/>
              </a:lnSpc>
              <a:buFont typeface="Arial"/>
              <a:buChar char="•"/>
            </a:pPr>
            <a:r>
              <a:rPr lang="en-US" sz="3000" dirty="0" err="1">
                <a:solidFill>
                  <a:srgbClr val="2D262A"/>
                </a:solidFill>
                <a:latin typeface="Montserrat Classic"/>
              </a:rPr>
              <a:t>Semua</a:t>
            </a:r>
            <a:r>
              <a:rPr lang="en-US" sz="3000" dirty="0">
                <a:solidFill>
                  <a:srgbClr val="2D262A"/>
                </a:solidFill>
                <a:latin typeface="Montserrat Classic"/>
              </a:rPr>
              <a:t> </a:t>
            </a:r>
            <a:r>
              <a:rPr lang="en-US" sz="3000" dirty="0" err="1">
                <a:solidFill>
                  <a:srgbClr val="2D262A"/>
                </a:solidFill>
                <a:latin typeface="Montserrat Classic"/>
              </a:rPr>
              <a:t>keluhan</a:t>
            </a:r>
            <a:r>
              <a:rPr lang="en-US" sz="3000" dirty="0">
                <a:solidFill>
                  <a:srgbClr val="2D262A"/>
                </a:solidFill>
                <a:latin typeface="Montserrat Classic"/>
              </a:rPr>
              <a:t> </a:t>
            </a:r>
            <a:r>
              <a:rPr lang="en-US" sz="3000" dirty="0" err="1">
                <a:solidFill>
                  <a:srgbClr val="2D262A"/>
                </a:solidFill>
                <a:latin typeface="Montserrat Classic"/>
              </a:rPr>
              <a:t>atau</a:t>
            </a:r>
            <a:r>
              <a:rPr lang="en-US" sz="3000" dirty="0">
                <a:solidFill>
                  <a:srgbClr val="2D262A"/>
                </a:solidFill>
                <a:latin typeface="Montserrat Classic"/>
              </a:rPr>
              <a:t> </a:t>
            </a:r>
            <a:r>
              <a:rPr lang="en-US" sz="3000" dirty="0" err="1">
                <a:solidFill>
                  <a:srgbClr val="2D262A"/>
                </a:solidFill>
                <a:latin typeface="Montserrat Classic"/>
              </a:rPr>
              <a:t>komplain</a:t>
            </a:r>
            <a:r>
              <a:rPr lang="en-US" sz="3000" dirty="0">
                <a:solidFill>
                  <a:srgbClr val="2D262A"/>
                </a:solidFill>
                <a:latin typeface="Montserrat Classic"/>
              </a:rPr>
              <a:t> </a:t>
            </a:r>
            <a:r>
              <a:rPr lang="en-US" sz="3000" dirty="0" err="1">
                <a:solidFill>
                  <a:srgbClr val="2D262A"/>
                </a:solidFill>
                <a:latin typeface="Montserrat Classic"/>
              </a:rPr>
              <a:t>nilai</a:t>
            </a:r>
            <a:r>
              <a:rPr lang="en-US" sz="3000" dirty="0">
                <a:solidFill>
                  <a:srgbClr val="2D262A"/>
                </a:solidFill>
                <a:latin typeface="Montserrat Classic"/>
              </a:rPr>
              <a:t> </a:t>
            </a:r>
            <a:r>
              <a:rPr lang="en-US" sz="3000" dirty="0" err="1">
                <a:solidFill>
                  <a:srgbClr val="2D262A"/>
                </a:solidFill>
                <a:latin typeface="Montserrat Classic"/>
              </a:rPr>
              <a:t>dapat</a:t>
            </a:r>
            <a:r>
              <a:rPr lang="en-US" sz="3000" dirty="0">
                <a:solidFill>
                  <a:srgbClr val="2D262A"/>
                </a:solidFill>
                <a:latin typeface="Montserrat Classic"/>
              </a:rPr>
              <a:t> LANGSUNG </a:t>
            </a:r>
            <a:r>
              <a:rPr lang="en-US" sz="3000" dirty="0" err="1">
                <a:solidFill>
                  <a:srgbClr val="2D262A"/>
                </a:solidFill>
                <a:latin typeface="Montserrat Classic"/>
              </a:rPr>
              <a:t>diajukan</a:t>
            </a:r>
            <a:r>
              <a:rPr lang="en-US" sz="3000" dirty="0">
                <a:solidFill>
                  <a:srgbClr val="2D262A"/>
                </a:solidFill>
                <a:latin typeface="Montserrat Classic"/>
              </a:rPr>
              <a:t> </a:t>
            </a:r>
            <a:r>
              <a:rPr lang="en-US" sz="3000" dirty="0" err="1">
                <a:solidFill>
                  <a:srgbClr val="2D262A"/>
                </a:solidFill>
                <a:latin typeface="Montserrat Classic"/>
              </a:rPr>
              <a:t>kepada</a:t>
            </a:r>
            <a:r>
              <a:rPr lang="en-US" sz="3000" dirty="0">
                <a:solidFill>
                  <a:srgbClr val="2D262A"/>
                </a:solidFill>
                <a:latin typeface="Montserrat Classic"/>
              </a:rPr>
              <a:t> </a:t>
            </a:r>
            <a:r>
              <a:rPr lang="en-US" sz="3000" dirty="0" err="1">
                <a:solidFill>
                  <a:srgbClr val="2D262A"/>
                </a:solidFill>
                <a:latin typeface="Montserrat Classic"/>
              </a:rPr>
              <a:t>dosen</a:t>
            </a:r>
            <a:r>
              <a:rPr lang="en-US" sz="3000" dirty="0">
                <a:solidFill>
                  <a:srgbClr val="2D262A"/>
                </a:solidFill>
                <a:latin typeface="Montserrat Classic"/>
              </a:rPr>
              <a:t> </a:t>
            </a:r>
            <a:r>
              <a:rPr lang="en-US" sz="3000" dirty="0" err="1">
                <a:solidFill>
                  <a:srgbClr val="2D262A"/>
                </a:solidFill>
                <a:latin typeface="Montserrat Classic"/>
              </a:rPr>
              <a:t>pengampu</a:t>
            </a:r>
            <a:r>
              <a:rPr lang="en-US" sz="3000" dirty="0">
                <a:solidFill>
                  <a:srgbClr val="2D262A"/>
                </a:solidFill>
                <a:latin typeface="Montserrat Classic"/>
              </a:rPr>
              <a:t>.</a:t>
            </a:r>
          </a:p>
          <a:p>
            <a:pPr marL="777234" lvl="1" indent="-388617">
              <a:lnSpc>
                <a:spcPts val="5039"/>
              </a:lnSpc>
              <a:buFont typeface="Arial"/>
              <a:buChar char="•"/>
            </a:pPr>
            <a:r>
              <a:rPr lang="en-US" sz="3000" dirty="0" err="1">
                <a:solidFill>
                  <a:srgbClr val="2D262A"/>
                </a:solidFill>
                <a:latin typeface="Montserrat Classic"/>
              </a:rPr>
              <a:t>Konfirmasi</a:t>
            </a:r>
            <a:r>
              <a:rPr lang="en-US" sz="3000" dirty="0">
                <a:solidFill>
                  <a:srgbClr val="2D262A"/>
                </a:solidFill>
                <a:latin typeface="Montserrat Classic"/>
              </a:rPr>
              <a:t> </a:t>
            </a:r>
            <a:r>
              <a:rPr lang="en-US" sz="3000" dirty="0" err="1">
                <a:solidFill>
                  <a:srgbClr val="2D262A"/>
                </a:solidFill>
                <a:latin typeface="Montserrat Classic"/>
              </a:rPr>
              <a:t>keterlambatan</a:t>
            </a:r>
            <a:r>
              <a:rPr lang="en-US" sz="3000" dirty="0">
                <a:solidFill>
                  <a:srgbClr val="2D262A"/>
                </a:solidFill>
                <a:latin typeface="Montserrat Classic"/>
              </a:rPr>
              <a:t> </a:t>
            </a:r>
            <a:r>
              <a:rPr lang="en-US" sz="3000" dirty="0" err="1">
                <a:solidFill>
                  <a:srgbClr val="2D262A"/>
                </a:solidFill>
                <a:latin typeface="Montserrat Classic"/>
              </a:rPr>
              <a:t>harus</a:t>
            </a:r>
            <a:r>
              <a:rPr lang="en-US" sz="3000" dirty="0">
                <a:solidFill>
                  <a:srgbClr val="2D262A"/>
                </a:solidFill>
                <a:latin typeface="Montserrat Classic"/>
              </a:rPr>
              <a:t> </a:t>
            </a:r>
            <a:r>
              <a:rPr lang="en-US" sz="3000" dirty="0" err="1">
                <a:solidFill>
                  <a:srgbClr val="2D262A"/>
                </a:solidFill>
                <a:latin typeface="Montserrat Classic"/>
              </a:rPr>
              <a:t>dilakukan</a:t>
            </a:r>
            <a:r>
              <a:rPr lang="en-US" sz="3000" dirty="0">
                <a:solidFill>
                  <a:srgbClr val="2D262A"/>
                </a:solidFill>
                <a:latin typeface="Montserrat Classic"/>
              </a:rPr>
              <a:t> </a:t>
            </a:r>
            <a:r>
              <a:rPr lang="en-US" sz="3000" dirty="0" err="1">
                <a:solidFill>
                  <a:srgbClr val="2D262A"/>
                </a:solidFill>
                <a:latin typeface="Montserrat Classic"/>
              </a:rPr>
              <a:t>sebelum</a:t>
            </a:r>
            <a:r>
              <a:rPr lang="en-US" sz="3000" dirty="0">
                <a:solidFill>
                  <a:srgbClr val="2D262A"/>
                </a:solidFill>
                <a:latin typeface="Montserrat Classic"/>
              </a:rPr>
              <a:t> </a:t>
            </a:r>
            <a:r>
              <a:rPr lang="en-US" sz="3000" dirty="0" err="1">
                <a:solidFill>
                  <a:srgbClr val="2D262A"/>
                </a:solidFill>
                <a:latin typeface="Montserrat Classic"/>
              </a:rPr>
              <a:t>tenggat</a:t>
            </a:r>
            <a:r>
              <a:rPr lang="en-US" sz="3000" dirty="0">
                <a:solidFill>
                  <a:srgbClr val="2D262A"/>
                </a:solidFill>
                <a:latin typeface="Montserrat Classic"/>
              </a:rPr>
              <a:t> </a:t>
            </a:r>
            <a:r>
              <a:rPr lang="en-US" sz="3000" dirty="0" err="1">
                <a:solidFill>
                  <a:srgbClr val="2D262A"/>
                </a:solidFill>
                <a:latin typeface="Montserrat Classic"/>
              </a:rPr>
              <a:t>waktu</a:t>
            </a:r>
            <a:r>
              <a:rPr lang="en-US" sz="3000" dirty="0">
                <a:solidFill>
                  <a:srgbClr val="2D262A"/>
                </a:solidFill>
                <a:latin typeface="Montserrat Classic"/>
              </a:rPr>
              <a:t>, </a:t>
            </a:r>
            <a:r>
              <a:rPr lang="en-US" sz="3000" dirty="0" err="1">
                <a:solidFill>
                  <a:srgbClr val="2D262A"/>
                </a:solidFill>
                <a:latin typeface="Montserrat Classic"/>
              </a:rPr>
              <a:t>dengan</a:t>
            </a:r>
            <a:r>
              <a:rPr lang="en-US" sz="3000" dirty="0">
                <a:solidFill>
                  <a:srgbClr val="2D262A"/>
                </a:solidFill>
                <a:latin typeface="Montserrat Classic"/>
              </a:rPr>
              <a:t> </a:t>
            </a:r>
            <a:r>
              <a:rPr lang="en-US" sz="3000" dirty="0" err="1">
                <a:solidFill>
                  <a:srgbClr val="2D262A"/>
                </a:solidFill>
                <a:latin typeface="Montserrat Classic"/>
              </a:rPr>
              <a:t>alasan</a:t>
            </a:r>
            <a:r>
              <a:rPr lang="en-US" sz="3000" dirty="0">
                <a:solidFill>
                  <a:srgbClr val="2D262A"/>
                </a:solidFill>
                <a:latin typeface="Montserrat Classic"/>
              </a:rPr>
              <a:t> yang </a:t>
            </a:r>
            <a:r>
              <a:rPr lang="en-US" sz="3000" dirty="0" err="1">
                <a:solidFill>
                  <a:srgbClr val="2D262A"/>
                </a:solidFill>
                <a:latin typeface="Montserrat Classic"/>
              </a:rPr>
              <a:t>dapat</a:t>
            </a:r>
            <a:r>
              <a:rPr lang="en-US" sz="3000" dirty="0">
                <a:solidFill>
                  <a:srgbClr val="2D262A"/>
                </a:solidFill>
                <a:latin typeface="Montserrat Classic"/>
              </a:rPr>
              <a:t> </a:t>
            </a:r>
            <a:r>
              <a:rPr lang="en-US" sz="3000" dirty="0" err="1">
                <a:solidFill>
                  <a:srgbClr val="2D262A"/>
                </a:solidFill>
                <a:latin typeface="Montserrat Classic"/>
              </a:rPr>
              <a:t>diterima</a:t>
            </a:r>
            <a:r>
              <a:rPr lang="en-US" sz="3000" dirty="0">
                <a:solidFill>
                  <a:srgbClr val="2D262A"/>
                </a:solidFill>
                <a:latin typeface="Montserrat Classic"/>
              </a:rPr>
              <a:t>.</a:t>
            </a:r>
          </a:p>
          <a:p>
            <a:pPr marL="777234" lvl="1" indent="-388617">
              <a:lnSpc>
                <a:spcPts val="5039"/>
              </a:lnSpc>
              <a:buFont typeface="Arial"/>
              <a:buChar char="•"/>
            </a:pPr>
            <a:r>
              <a:rPr lang="en-US" sz="3000" dirty="0">
                <a:solidFill>
                  <a:srgbClr val="2D262A"/>
                </a:solidFill>
                <a:latin typeface="Montserrat Classic"/>
              </a:rPr>
              <a:t>Etika </a:t>
            </a:r>
            <a:r>
              <a:rPr lang="en-US" sz="3000" dirty="0" err="1">
                <a:solidFill>
                  <a:srgbClr val="2D262A"/>
                </a:solidFill>
                <a:latin typeface="Montserrat Classic"/>
              </a:rPr>
              <a:t>dalam</a:t>
            </a:r>
            <a:r>
              <a:rPr lang="en-US" sz="3000" dirty="0">
                <a:solidFill>
                  <a:srgbClr val="2D262A"/>
                </a:solidFill>
                <a:latin typeface="Montserrat Classic"/>
              </a:rPr>
              <a:t> </a:t>
            </a:r>
            <a:r>
              <a:rPr lang="en-US" sz="3000" dirty="0" err="1">
                <a:solidFill>
                  <a:srgbClr val="2D262A"/>
                </a:solidFill>
                <a:latin typeface="Montserrat Classic"/>
              </a:rPr>
              <a:t>kelas</a:t>
            </a:r>
            <a:r>
              <a:rPr lang="en-US" sz="3000" dirty="0">
                <a:solidFill>
                  <a:srgbClr val="2D262A"/>
                </a:solidFill>
                <a:latin typeface="Montserrat Classic"/>
              </a:rPr>
              <a:t>: </a:t>
            </a:r>
            <a:r>
              <a:rPr lang="en-US" sz="3000" dirty="0" err="1">
                <a:solidFill>
                  <a:srgbClr val="2D262A"/>
                </a:solidFill>
                <a:latin typeface="Montserrat Classic"/>
              </a:rPr>
              <a:t>Diharapkan</a:t>
            </a:r>
            <a:r>
              <a:rPr lang="en-US" sz="3000" dirty="0">
                <a:solidFill>
                  <a:srgbClr val="2D262A"/>
                </a:solidFill>
                <a:latin typeface="Montserrat Classic"/>
              </a:rPr>
              <a:t> </a:t>
            </a:r>
            <a:r>
              <a:rPr lang="en-US" sz="3000" dirty="0" err="1">
                <a:solidFill>
                  <a:srgbClr val="2D262A"/>
                </a:solidFill>
                <a:latin typeface="Montserrat Classic"/>
              </a:rPr>
              <a:t>mengikuti</a:t>
            </a:r>
            <a:r>
              <a:rPr lang="en-US" sz="3000" dirty="0">
                <a:solidFill>
                  <a:srgbClr val="2D262A"/>
                </a:solidFill>
                <a:latin typeface="Montserrat Classic"/>
              </a:rPr>
              <a:t> </a:t>
            </a:r>
            <a:r>
              <a:rPr lang="en-US" sz="3000" dirty="0" err="1">
                <a:solidFill>
                  <a:srgbClr val="2D262A"/>
                </a:solidFill>
                <a:latin typeface="Montserrat Classic"/>
              </a:rPr>
              <a:t>kelas</a:t>
            </a:r>
            <a:r>
              <a:rPr lang="en-US" sz="3000" dirty="0">
                <a:solidFill>
                  <a:srgbClr val="2D262A"/>
                </a:solidFill>
                <a:latin typeface="Montserrat Classic"/>
              </a:rPr>
              <a:t> </a:t>
            </a:r>
            <a:r>
              <a:rPr lang="en-US" sz="3000" dirty="0" err="1">
                <a:solidFill>
                  <a:srgbClr val="2D262A"/>
                </a:solidFill>
                <a:latin typeface="Montserrat Classic"/>
              </a:rPr>
              <a:t>dengan</a:t>
            </a:r>
            <a:r>
              <a:rPr lang="en-US" sz="3000" dirty="0">
                <a:solidFill>
                  <a:srgbClr val="2D262A"/>
                </a:solidFill>
                <a:latin typeface="Montserrat Classic"/>
              </a:rPr>
              <a:t> </a:t>
            </a:r>
            <a:r>
              <a:rPr lang="en-US" sz="3000" dirty="0" err="1">
                <a:solidFill>
                  <a:srgbClr val="2D262A"/>
                </a:solidFill>
                <a:latin typeface="Montserrat Classic"/>
              </a:rPr>
              <a:t>tertib</a:t>
            </a:r>
            <a:r>
              <a:rPr lang="en-US" sz="3000" dirty="0">
                <a:solidFill>
                  <a:srgbClr val="2D262A"/>
                </a:solidFill>
                <a:latin typeface="Montserrat Classic"/>
              </a:rPr>
              <a:t>, </a:t>
            </a:r>
            <a:r>
              <a:rPr lang="en-US" sz="3000" dirty="0" err="1">
                <a:solidFill>
                  <a:srgbClr val="2D262A"/>
                </a:solidFill>
                <a:latin typeface="Montserrat Classic"/>
              </a:rPr>
              <a:t>menghargai</a:t>
            </a:r>
            <a:r>
              <a:rPr lang="en-US" sz="3000" dirty="0">
                <a:solidFill>
                  <a:srgbClr val="2D262A"/>
                </a:solidFill>
                <a:latin typeface="Montserrat Classic"/>
              </a:rPr>
              <a:t> </a:t>
            </a:r>
            <a:r>
              <a:rPr lang="en-US" sz="3000" dirty="0" err="1">
                <a:solidFill>
                  <a:srgbClr val="2D262A"/>
                </a:solidFill>
                <a:latin typeface="Montserrat Classic"/>
              </a:rPr>
              <a:t>sesama</a:t>
            </a:r>
            <a:r>
              <a:rPr lang="en-US" sz="3000" dirty="0">
                <a:solidFill>
                  <a:srgbClr val="2D262A"/>
                </a:solidFill>
                <a:latin typeface="Montserrat Classic"/>
              </a:rPr>
              <a:t>, dan </a:t>
            </a:r>
            <a:r>
              <a:rPr lang="en-US" sz="3000" dirty="0" err="1">
                <a:solidFill>
                  <a:srgbClr val="2D262A"/>
                </a:solidFill>
                <a:latin typeface="Montserrat Classic"/>
              </a:rPr>
              <a:t>tidak</a:t>
            </a:r>
            <a:r>
              <a:rPr lang="en-US" sz="3000" dirty="0">
                <a:solidFill>
                  <a:srgbClr val="2D262A"/>
                </a:solidFill>
                <a:latin typeface="Montserrat Classic"/>
              </a:rPr>
              <a:t> </a:t>
            </a:r>
            <a:r>
              <a:rPr lang="en-US" sz="3000" dirty="0" err="1">
                <a:solidFill>
                  <a:srgbClr val="2D262A"/>
                </a:solidFill>
                <a:latin typeface="Montserrat Classic"/>
              </a:rPr>
              <a:t>melakukan</a:t>
            </a:r>
            <a:r>
              <a:rPr lang="en-US" sz="3000" dirty="0">
                <a:solidFill>
                  <a:srgbClr val="2D262A"/>
                </a:solidFill>
                <a:latin typeface="Montserrat Classic"/>
              </a:rPr>
              <a:t> </a:t>
            </a:r>
            <a:r>
              <a:rPr lang="en-US" sz="3000" dirty="0" err="1">
                <a:solidFill>
                  <a:srgbClr val="2D262A"/>
                </a:solidFill>
                <a:latin typeface="Montserrat Classic"/>
              </a:rPr>
              <a:t>plagiarisme</a:t>
            </a:r>
            <a:r>
              <a:rPr lang="en-US" sz="3000" dirty="0">
                <a:solidFill>
                  <a:srgbClr val="2D262A"/>
                </a:solidFill>
                <a:latin typeface="Montserrat Classic"/>
              </a:rPr>
              <a:t> </a:t>
            </a:r>
            <a:r>
              <a:rPr lang="en-US" sz="3000" dirty="0" err="1">
                <a:solidFill>
                  <a:srgbClr val="2D262A"/>
                </a:solidFill>
                <a:latin typeface="Montserrat Classic"/>
              </a:rPr>
              <a:t>dalam</a:t>
            </a:r>
            <a:r>
              <a:rPr lang="en-US" sz="3000" dirty="0">
                <a:solidFill>
                  <a:srgbClr val="2D262A"/>
                </a:solidFill>
                <a:latin typeface="Montserrat Classic"/>
              </a:rPr>
              <a:t> </a:t>
            </a:r>
            <a:r>
              <a:rPr lang="en-US" sz="3000" dirty="0" err="1">
                <a:solidFill>
                  <a:srgbClr val="2D262A"/>
                </a:solidFill>
                <a:latin typeface="Montserrat Classic"/>
              </a:rPr>
              <a:t>tugas</a:t>
            </a:r>
            <a:r>
              <a:rPr lang="en-US" sz="3000" dirty="0">
                <a:solidFill>
                  <a:srgbClr val="2D262A"/>
                </a:solidFill>
                <a:latin typeface="Montserrat Classic"/>
              </a:rPr>
              <a:t>.</a:t>
            </a:r>
          </a:p>
          <a:p>
            <a:pPr marL="777234" lvl="1" indent="-388617">
              <a:lnSpc>
                <a:spcPts val="5039"/>
              </a:lnSpc>
              <a:buFont typeface="Arial"/>
              <a:buChar char="•"/>
            </a:pPr>
            <a:r>
              <a:rPr lang="en-ID" sz="3000" dirty="0" err="1"/>
              <a:t>Penggunaan</a:t>
            </a:r>
            <a:r>
              <a:rPr lang="en-ID" sz="3000" dirty="0"/>
              <a:t> AI (</a:t>
            </a:r>
            <a:r>
              <a:rPr lang="en-ID" sz="3000" dirty="0" err="1"/>
              <a:t>ChatGPT</a:t>
            </a:r>
            <a:r>
              <a:rPr lang="en-ID" sz="3000" dirty="0"/>
              <a:t>, </a:t>
            </a:r>
            <a:r>
              <a:rPr lang="en-ID" sz="3000" dirty="0" err="1"/>
              <a:t>Copilot</a:t>
            </a:r>
            <a:r>
              <a:rPr lang="en-ID" sz="3000" dirty="0"/>
              <a:t>, </a:t>
            </a:r>
            <a:r>
              <a:rPr lang="en-ID" sz="3000" dirty="0" err="1"/>
              <a:t>dll</a:t>
            </a:r>
            <a:r>
              <a:rPr lang="en-ID" sz="3000" dirty="0"/>
              <a:t>.) </a:t>
            </a:r>
            <a:r>
              <a:rPr lang="en-ID" sz="3000" dirty="0" err="1"/>
              <a:t>diperbolehkan</a:t>
            </a:r>
            <a:r>
              <a:rPr lang="en-ID" sz="3000" dirty="0"/>
              <a:t> </a:t>
            </a:r>
            <a:r>
              <a:rPr lang="en-ID" sz="3000" dirty="0" err="1"/>
              <a:t>sebagai</a:t>
            </a:r>
            <a:r>
              <a:rPr lang="en-ID" sz="3000" dirty="0"/>
              <a:t> </a:t>
            </a:r>
            <a:r>
              <a:rPr lang="en-ID" sz="3000" dirty="0" err="1"/>
              <a:t>alat</a:t>
            </a:r>
            <a:r>
              <a:rPr lang="en-ID" sz="3000" dirty="0"/>
              <a:t> </a:t>
            </a:r>
            <a:r>
              <a:rPr lang="en-ID" sz="3000" dirty="0" err="1"/>
              <a:t>bantu</a:t>
            </a:r>
            <a:r>
              <a:rPr lang="en-ID" sz="3000" dirty="0"/>
              <a:t> </a:t>
            </a:r>
            <a:r>
              <a:rPr lang="en-ID" sz="3000" dirty="0" err="1"/>
              <a:t>pembelajaran</a:t>
            </a:r>
            <a:r>
              <a:rPr lang="en-ID" sz="3000" dirty="0"/>
              <a:t>, </a:t>
            </a:r>
            <a:r>
              <a:rPr lang="en-ID" sz="3000" dirty="0" err="1"/>
              <a:t>namun</a:t>
            </a:r>
            <a:r>
              <a:rPr lang="en-ID" sz="3000" dirty="0"/>
              <a:t> </a:t>
            </a:r>
            <a:r>
              <a:rPr lang="en-ID" sz="3000" dirty="0" err="1"/>
              <a:t>mahasiswa</a:t>
            </a:r>
            <a:r>
              <a:rPr lang="en-ID" sz="3000" dirty="0"/>
              <a:t> </a:t>
            </a:r>
            <a:r>
              <a:rPr lang="en-ID" sz="3000" dirty="0" err="1"/>
              <a:t>wajib</a:t>
            </a:r>
            <a:r>
              <a:rPr lang="en-ID" sz="3000" dirty="0"/>
              <a:t> </a:t>
            </a:r>
            <a:r>
              <a:rPr lang="en-ID" sz="3000" dirty="0" err="1"/>
              <a:t>memahami</a:t>
            </a:r>
            <a:r>
              <a:rPr lang="en-ID" sz="3000" dirty="0"/>
              <a:t> dan </a:t>
            </a:r>
            <a:r>
              <a:rPr lang="en-ID" sz="3000" dirty="0" err="1"/>
              <a:t>dapat</a:t>
            </a:r>
            <a:r>
              <a:rPr lang="en-ID" sz="3000" dirty="0"/>
              <a:t> </a:t>
            </a:r>
            <a:r>
              <a:rPr lang="en-ID" sz="3000" dirty="0" err="1"/>
              <a:t>menjelaskan</a:t>
            </a:r>
            <a:r>
              <a:rPr lang="en-ID" sz="3000" dirty="0"/>
              <a:t> </a:t>
            </a:r>
            <a:r>
              <a:rPr lang="en-ID" sz="3000" dirty="0" err="1"/>
              <a:t>kode</a:t>
            </a:r>
            <a:r>
              <a:rPr lang="en-ID" sz="3000" dirty="0"/>
              <a:t> yang </a:t>
            </a:r>
            <a:r>
              <a:rPr lang="en-ID" sz="3000" dirty="0" err="1"/>
              <a:t>dibuat</a:t>
            </a:r>
            <a:r>
              <a:rPr lang="en-ID" sz="3000" dirty="0"/>
              <a:t>. </a:t>
            </a:r>
            <a:r>
              <a:rPr lang="en-ID" sz="3000" dirty="0" err="1"/>
              <a:t>Tugas</a:t>
            </a:r>
            <a:r>
              <a:rPr lang="en-ID" sz="3000" dirty="0"/>
              <a:t> </a:t>
            </a:r>
            <a:r>
              <a:rPr lang="en-ID" sz="3000" dirty="0" err="1"/>
              <a:t>tetap</a:t>
            </a:r>
            <a:r>
              <a:rPr lang="en-ID" sz="3000" dirty="0"/>
              <a:t> </a:t>
            </a:r>
            <a:r>
              <a:rPr lang="en-ID" sz="3000" dirty="0" err="1"/>
              <a:t>harus</a:t>
            </a:r>
            <a:r>
              <a:rPr lang="en-ID" sz="3000" dirty="0"/>
              <a:t> </a:t>
            </a:r>
            <a:r>
              <a:rPr lang="en-ID" sz="3000" dirty="0" err="1"/>
              <a:t>merupakan</a:t>
            </a:r>
            <a:r>
              <a:rPr lang="en-ID" sz="3000" dirty="0"/>
              <a:t> </a:t>
            </a:r>
            <a:r>
              <a:rPr lang="en-ID" sz="3000" dirty="0" err="1"/>
              <a:t>hasil</a:t>
            </a:r>
            <a:r>
              <a:rPr lang="en-ID" sz="3000" dirty="0"/>
              <a:t> </a:t>
            </a:r>
            <a:r>
              <a:rPr lang="en-ID" sz="3000" dirty="0" err="1"/>
              <a:t>pemahaman</a:t>
            </a:r>
            <a:r>
              <a:rPr lang="en-ID" sz="3000" dirty="0"/>
              <a:t> </a:t>
            </a:r>
            <a:r>
              <a:rPr lang="en-ID" sz="3000" dirty="0" err="1"/>
              <a:t>pribadi</a:t>
            </a:r>
            <a:r>
              <a:rPr lang="en-ID" sz="3000" dirty="0"/>
              <a:t>.</a:t>
            </a:r>
            <a:endParaRPr lang="en-US" sz="3000" dirty="0">
              <a:solidFill>
                <a:srgbClr val="2D262A"/>
              </a:solidFill>
              <a:latin typeface="Montserrat Classic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40790" y="0"/>
            <a:ext cx="212090" cy="5143500"/>
            <a:chOff x="0" y="0"/>
            <a:chExt cx="55859" cy="13546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5859" cy="1354667"/>
            </a:xfrm>
            <a:custGeom>
              <a:avLst/>
              <a:gdLst/>
              <a:ahLst/>
              <a:cxnLst/>
              <a:rect l="l" t="t" r="r" b="b"/>
              <a:pathLst>
                <a:path w="55859" h="1354667">
                  <a:moveTo>
                    <a:pt x="0" y="0"/>
                  </a:moveTo>
                  <a:lnTo>
                    <a:pt x="55859" y="0"/>
                  </a:lnTo>
                  <a:lnTo>
                    <a:pt x="55859" y="1354667"/>
                  </a:lnTo>
                  <a:lnTo>
                    <a:pt x="0" y="1354667"/>
                  </a:lnTo>
                  <a:close/>
                </a:path>
              </a:pathLst>
            </a:custGeom>
            <a:solidFill>
              <a:srgbClr val="F9B314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55859" cy="13927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4787351" y="-318930"/>
            <a:ext cx="2185553" cy="2185553"/>
          </a:xfrm>
          <a:custGeom>
            <a:avLst/>
            <a:gdLst/>
            <a:ahLst/>
            <a:cxnLst/>
            <a:rect l="l" t="t" r="r" b="b"/>
            <a:pathLst>
              <a:path w="2185553" h="2185553">
                <a:moveTo>
                  <a:pt x="0" y="0"/>
                </a:moveTo>
                <a:lnTo>
                  <a:pt x="2185553" y="0"/>
                </a:lnTo>
                <a:lnTo>
                  <a:pt x="2185553" y="2185553"/>
                </a:lnTo>
                <a:lnTo>
                  <a:pt x="0" y="218555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grpSp>
        <p:nvGrpSpPr>
          <p:cNvPr id="6" name="Group 6"/>
          <p:cNvGrpSpPr/>
          <p:nvPr/>
        </p:nvGrpSpPr>
        <p:grpSpPr>
          <a:xfrm>
            <a:off x="14500955" y="1451912"/>
            <a:ext cx="2758345" cy="245871"/>
            <a:chOff x="0" y="0"/>
            <a:chExt cx="726478" cy="6475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26478" cy="64756"/>
            </a:xfrm>
            <a:custGeom>
              <a:avLst/>
              <a:gdLst/>
              <a:ahLst/>
              <a:cxnLst/>
              <a:rect l="l" t="t" r="r" b="b"/>
              <a:pathLst>
                <a:path w="726478" h="64756">
                  <a:moveTo>
                    <a:pt x="0" y="0"/>
                  </a:moveTo>
                  <a:lnTo>
                    <a:pt x="726478" y="0"/>
                  </a:lnTo>
                  <a:lnTo>
                    <a:pt x="726478" y="64756"/>
                  </a:lnTo>
                  <a:lnTo>
                    <a:pt x="0" y="64756"/>
                  </a:lnTo>
                  <a:close/>
                </a:path>
              </a:pathLst>
            </a:custGeom>
            <a:solidFill>
              <a:srgbClr val="F9B314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726478" cy="1028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863374" y="9258300"/>
            <a:ext cx="754831" cy="701674"/>
          </a:xfrm>
          <a:custGeom>
            <a:avLst/>
            <a:gdLst/>
            <a:ahLst/>
            <a:cxnLst/>
            <a:rect l="l" t="t" r="r" b="b"/>
            <a:pathLst>
              <a:path w="754831" h="701674">
                <a:moveTo>
                  <a:pt x="0" y="0"/>
                </a:moveTo>
                <a:lnTo>
                  <a:pt x="754831" y="0"/>
                </a:lnTo>
                <a:lnTo>
                  <a:pt x="754831" y="701674"/>
                </a:lnTo>
                <a:lnTo>
                  <a:pt x="0" y="70167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11" name="TextBox 11"/>
          <p:cNvSpPr txBox="1"/>
          <p:nvPr/>
        </p:nvSpPr>
        <p:spPr>
          <a:xfrm>
            <a:off x="2590800" y="1139249"/>
            <a:ext cx="9288593" cy="1360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0560"/>
              </a:lnSpc>
            </a:pPr>
            <a:r>
              <a:rPr lang="en-US" sz="9600" dirty="0">
                <a:solidFill>
                  <a:srgbClr val="1211CA"/>
                </a:solidFill>
                <a:latin typeface="Montserrat Ultra-Bold"/>
              </a:rPr>
              <a:t>THANK YOU</a:t>
            </a:r>
          </a:p>
        </p:txBody>
      </p:sp>
      <p:sp>
        <p:nvSpPr>
          <p:cNvPr id="13" name="TextBox 13"/>
          <p:cNvSpPr txBox="1"/>
          <p:nvPr/>
        </p:nvSpPr>
        <p:spPr>
          <a:xfrm rot="-5400000">
            <a:off x="-775100" y="6890150"/>
            <a:ext cx="3974630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920"/>
              </a:lnSpc>
            </a:pPr>
            <a:r>
              <a:rPr lang="en-US" sz="2800">
                <a:solidFill>
                  <a:srgbClr val="101010"/>
                </a:solidFill>
                <a:latin typeface="Montserrat Classic"/>
              </a:rPr>
              <a:t>www.ulbi.ac.id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76442193-C076-C587-2545-C238D374D8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8519" y="2530893"/>
            <a:ext cx="6390961" cy="66849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841CC8B-07AE-F834-F8B4-5D08FCC66173}"/>
              </a:ext>
            </a:extLst>
          </p:cNvPr>
          <p:cNvSpPr/>
          <p:nvPr/>
        </p:nvSpPr>
        <p:spPr>
          <a:xfrm>
            <a:off x="13586892" y="8574224"/>
            <a:ext cx="3672408" cy="136815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ko-KR" dirty="0">
                <a:solidFill>
                  <a:schemeClr val="accent5">
                    <a:lumMod val="50000"/>
                  </a:schemeClr>
                </a:solidFill>
              </a:rPr>
              <a:t>        indra@ulbi.ac.id</a:t>
            </a:r>
            <a:br>
              <a:rPr lang="en-US" altLang="ko-KR" dirty="0">
                <a:solidFill>
                  <a:schemeClr val="accent5">
                    <a:lumMod val="50000"/>
                  </a:schemeClr>
                </a:solidFill>
              </a:rPr>
            </a:br>
            <a:endParaRPr lang="en-US" altLang="ko-KR" dirty="0">
              <a:solidFill>
                <a:schemeClr val="accent5">
                  <a:lumMod val="50000"/>
                </a:schemeClr>
              </a:solidFill>
            </a:endParaRPr>
          </a:p>
          <a:p>
            <a:r>
              <a:rPr lang="en-US" altLang="ko-KR" dirty="0">
                <a:solidFill>
                  <a:schemeClr val="accent5">
                    <a:lumMod val="50000"/>
                  </a:schemeClr>
                </a:solidFill>
              </a:rPr>
              <a:t>        08122221814</a:t>
            </a:r>
            <a:endParaRPr lang="ko-KR" altLang="en-US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0D311B6-30A2-4458-924C-3F84089D54DA}"/>
              </a:ext>
            </a:extLst>
          </p:cNvPr>
          <p:cNvSpPr/>
          <p:nvPr/>
        </p:nvSpPr>
        <p:spPr>
          <a:xfrm>
            <a:off x="13802916" y="8240078"/>
            <a:ext cx="2808312" cy="47997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ko-KR" sz="1600" b="1" dirty="0"/>
              <a:t>Contact</a:t>
            </a:r>
            <a:endParaRPr lang="ko-KR" altLang="en-US" sz="1600" b="1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3FC7378-55C1-785E-E1E5-AACE281D57A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13877" y="8734283"/>
            <a:ext cx="503740" cy="50374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01C3F34-8DBF-75AA-3B0F-4C93BD1BEE6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36774" y="9316349"/>
            <a:ext cx="457945" cy="4579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215AB0-301A-2850-55FE-A3FE1C70F4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2AE37552-999D-07EF-3C31-9E5EB8BE901F}"/>
              </a:ext>
            </a:extLst>
          </p:cNvPr>
          <p:cNvGrpSpPr/>
          <p:nvPr/>
        </p:nvGrpSpPr>
        <p:grpSpPr>
          <a:xfrm>
            <a:off x="1240790" y="0"/>
            <a:ext cx="212090" cy="5143500"/>
            <a:chOff x="0" y="0"/>
            <a:chExt cx="55859" cy="1354667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352F4C76-A862-B25C-8AEE-23C894C4A33F}"/>
                </a:ext>
              </a:extLst>
            </p:cNvPr>
            <p:cNvSpPr/>
            <p:nvPr/>
          </p:nvSpPr>
          <p:spPr>
            <a:xfrm>
              <a:off x="0" y="0"/>
              <a:ext cx="55859" cy="1354667"/>
            </a:xfrm>
            <a:custGeom>
              <a:avLst/>
              <a:gdLst/>
              <a:ahLst/>
              <a:cxnLst/>
              <a:rect l="l" t="t" r="r" b="b"/>
              <a:pathLst>
                <a:path w="55859" h="1354667">
                  <a:moveTo>
                    <a:pt x="0" y="0"/>
                  </a:moveTo>
                  <a:lnTo>
                    <a:pt x="55859" y="0"/>
                  </a:lnTo>
                  <a:lnTo>
                    <a:pt x="55859" y="1354667"/>
                  </a:lnTo>
                  <a:lnTo>
                    <a:pt x="0" y="1354667"/>
                  </a:lnTo>
                  <a:close/>
                </a:path>
              </a:pathLst>
            </a:custGeom>
            <a:solidFill>
              <a:srgbClr val="F9B314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7B5128D0-7645-C302-9EF8-0EF11460F44E}"/>
                </a:ext>
              </a:extLst>
            </p:cNvPr>
            <p:cNvSpPr txBox="1"/>
            <p:nvPr/>
          </p:nvSpPr>
          <p:spPr>
            <a:xfrm>
              <a:off x="0" y="-38100"/>
              <a:ext cx="55859" cy="13927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8F115423-B5E1-A980-B414-72C53212D688}"/>
              </a:ext>
            </a:extLst>
          </p:cNvPr>
          <p:cNvSpPr/>
          <p:nvPr/>
        </p:nvSpPr>
        <p:spPr>
          <a:xfrm>
            <a:off x="14787351" y="-318930"/>
            <a:ext cx="2185553" cy="2185553"/>
          </a:xfrm>
          <a:custGeom>
            <a:avLst/>
            <a:gdLst/>
            <a:ahLst/>
            <a:cxnLst/>
            <a:rect l="l" t="t" r="r" b="b"/>
            <a:pathLst>
              <a:path w="2185553" h="2185553">
                <a:moveTo>
                  <a:pt x="0" y="0"/>
                </a:moveTo>
                <a:lnTo>
                  <a:pt x="2185553" y="0"/>
                </a:lnTo>
                <a:lnTo>
                  <a:pt x="2185553" y="2185553"/>
                </a:lnTo>
                <a:lnTo>
                  <a:pt x="0" y="218555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6C3C6E6C-F41B-1024-163D-671A476E8DA1}"/>
              </a:ext>
            </a:extLst>
          </p:cNvPr>
          <p:cNvGrpSpPr/>
          <p:nvPr/>
        </p:nvGrpSpPr>
        <p:grpSpPr>
          <a:xfrm>
            <a:off x="14500955" y="1451912"/>
            <a:ext cx="2758345" cy="245871"/>
            <a:chOff x="0" y="0"/>
            <a:chExt cx="726478" cy="64756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FC00EC0E-D416-94F2-B60F-FFD880541082}"/>
                </a:ext>
              </a:extLst>
            </p:cNvPr>
            <p:cNvSpPr/>
            <p:nvPr/>
          </p:nvSpPr>
          <p:spPr>
            <a:xfrm>
              <a:off x="0" y="0"/>
              <a:ext cx="726478" cy="64756"/>
            </a:xfrm>
            <a:custGeom>
              <a:avLst/>
              <a:gdLst/>
              <a:ahLst/>
              <a:cxnLst/>
              <a:rect l="l" t="t" r="r" b="b"/>
              <a:pathLst>
                <a:path w="726478" h="64756">
                  <a:moveTo>
                    <a:pt x="0" y="0"/>
                  </a:moveTo>
                  <a:lnTo>
                    <a:pt x="726478" y="0"/>
                  </a:lnTo>
                  <a:lnTo>
                    <a:pt x="726478" y="64756"/>
                  </a:lnTo>
                  <a:lnTo>
                    <a:pt x="0" y="64756"/>
                  </a:lnTo>
                  <a:close/>
                </a:path>
              </a:pathLst>
            </a:custGeom>
            <a:solidFill>
              <a:srgbClr val="F9B314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4A44ED58-65B7-B326-9CC4-FD7651E68601}"/>
                </a:ext>
              </a:extLst>
            </p:cNvPr>
            <p:cNvSpPr txBox="1"/>
            <p:nvPr/>
          </p:nvSpPr>
          <p:spPr>
            <a:xfrm>
              <a:off x="0" y="-38100"/>
              <a:ext cx="726478" cy="1028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id="{7DB2AF19-03A2-FD65-B49B-0C0A974692AE}"/>
              </a:ext>
            </a:extLst>
          </p:cNvPr>
          <p:cNvSpPr/>
          <p:nvPr/>
        </p:nvSpPr>
        <p:spPr>
          <a:xfrm>
            <a:off x="863374" y="9258300"/>
            <a:ext cx="754831" cy="701674"/>
          </a:xfrm>
          <a:custGeom>
            <a:avLst/>
            <a:gdLst/>
            <a:ahLst/>
            <a:cxnLst/>
            <a:rect l="l" t="t" r="r" b="b"/>
            <a:pathLst>
              <a:path w="754831" h="701674">
                <a:moveTo>
                  <a:pt x="0" y="0"/>
                </a:moveTo>
                <a:lnTo>
                  <a:pt x="754831" y="0"/>
                </a:lnTo>
                <a:lnTo>
                  <a:pt x="754831" y="701674"/>
                </a:lnTo>
                <a:lnTo>
                  <a:pt x="0" y="70167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69DAB0D6-FB84-7E33-336F-23DC95343F1A}"/>
              </a:ext>
            </a:extLst>
          </p:cNvPr>
          <p:cNvSpPr txBox="1"/>
          <p:nvPr/>
        </p:nvSpPr>
        <p:spPr>
          <a:xfrm>
            <a:off x="2590800" y="1139249"/>
            <a:ext cx="9288593" cy="1360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0560"/>
              </a:lnSpc>
            </a:pPr>
            <a:r>
              <a:rPr lang="en-US" sz="9600" dirty="0">
                <a:solidFill>
                  <a:srgbClr val="1211CA"/>
                </a:solidFill>
                <a:latin typeface="Montserrat Ultra-Bold"/>
              </a:rPr>
              <a:t>TUGAS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88FB9C2A-0B73-E5B0-F383-6B8D383DC7E3}"/>
              </a:ext>
            </a:extLst>
          </p:cNvPr>
          <p:cNvSpPr txBox="1"/>
          <p:nvPr/>
        </p:nvSpPr>
        <p:spPr>
          <a:xfrm rot="-5400000">
            <a:off x="-775100" y="6890150"/>
            <a:ext cx="3974630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920"/>
              </a:lnSpc>
            </a:pPr>
            <a:r>
              <a:rPr lang="en-US" sz="2800">
                <a:solidFill>
                  <a:srgbClr val="101010"/>
                </a:solidFill>
                <a:latin typeface="Montserrat Classic"/>
              </a:rPr>
              <a:t>www.ulbi.ac.id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45A1897-56D1-8E08-FA65-79FDB11DC1E0}"/>
              </a:ext>
            </a:extLst>
          </p:cNvPr>
          <p:cNvSpPr/>
          <p:nvPr/>
        </p:nvSpPr>
        <p:spPr>
          <a:xfrm>
            <a:off x="13586892" y="8574224"/>
            <a:ext cx="3672408" cy="136815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ko-KR" dirty="0">
                <a:solidFill>
                  <a:schemeClr val="accent5">
                    <a:lumMod val="50000"/>
                  </a:schemeClr>
                </a:solidFill>
              </a:rPr>
              <a:t>        indra@ulbi.ac.id</a:t>
            </a:r>
            <a:br>
              <a:rPr lang="en-US" altLang="ko-KR" dirty="0">
                <a:solidFill>
                  <a:schemeClr val="accent5">
                    <a:lumMod val="50000"/>
                  </a:schemeClr>
                </a:solidFill>
              </a:rPr>
            </a:br>
            <a:endParaRPr lang="en-US" altLang="ko-KR" dirty="0">
              <a:solidFill>
                <a:schemeClr val="accent5">
                  <a:lumMod val="50000"/>
                </a:schemeClr>
              </a:solidFill>
            </a:endParaRPr>
          </a:p>
          <a:p>
            <a:r>
              <a:rPr lang="en-US" altLang="ko-KR" dirty="0">
                <a:solidFill>
                  <a:schemeClr val="accent5">
                    <a:lumMod val="50000"/>
                  </a:schemeClr>
                </a:solidFill>
              </a:rPr>
              <a:t>        08122221814</a:t>
            </a:r>
            <a:endParaRPr lang="ko-KR" altLang="en-US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F07DFB-8B3C-8CC9-AAC0-85F24AB32612}"/>
              </a:ext>
            </a:extLst>
          </p:cNvPr>
          <p:cNvSpPr/>
          <p:nvPr/>
        </p:nvSpPr>
        <p:spPr>
          <a:xfrm>
            <a:off x="13802916" y="8240078"/>
            <a:ext cx="2808312" cy="47997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ko-KR" sz="1600" b="1" dirty="0"/>
              <a:t>Contact</a:t>
            </a:r>
            <a:endParaRPr lang="ko-KR" altLang="en-US" sz="1600" b="1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A448B2B-FE22-4730-F507-64E7D812E2C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13877" y="8734283"/>
            <a:ext cx="503740" cy="50374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B8D61AB-B5F7-5494-DF9E-6C718A8A4D8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36774" y="9316349"/>
            <a:ext cx="457945" cy="457945"/>
          </a:xfrm>
          <a:prstGeom prst="rect">
            <a:avLst/>
          </a:prstGeom>
        </p:spPr>
      </p:pic>
      <p:sp>
        <p:nvSpPr>
          <p:cNvPr id="16" name="TextBox 11">
            <a:extLst>
              <a:ext uri="{FF2B5EF4-FFF2-40B4-BE49-F238E27FC236}">
                <a16:creationId xmlns:a16="http://schemas.microsoft.com/office/drawing/2014/main" id="{AF87FDB8-7FEE-8027-F6E3-DACC2023C32A}"/>
              </a:ext>
            </a:extLst>
          </p:cNvPr>
          <p:cNvSpPr txBox="1"/>
          <p:nvPr/>
        </p:nvSpPr>
        <p:spPr>
          <a:xfrm>
            <a:off x="1617557" y="2461548"/>
            <a:ext cx="16670443" cy="50911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77234" lvl="1" indent="-388617">
              <a:lnSpc>
                <a:spcPts val="5039"/>
              </a:lnSpc>
              <a:buFont typeface="Arial"/>
              <a:buChar char="•"/>
            </a:pPr>
            <a:r>
              <a:rPr lang="en-US" sz="3599" dirty="0" err="1">
                <a:solidFill>
                  <a:srgbClr val="2D262A"/>
                </a:solidFill>
                <a:latin typeface="Montserrat Classic"/>
              </a:rPr>
              <a:t>Buat</a:t>
            </a:r>
            <a:r>
              <a:rPr lang="en-US" sz="3599" dirty="0">
                <a:solidFill>
                  <a:srgbClr val="2D262A"/>
                </a:solidFill>
                <a:latin typeface="Montserrat Classic"/>
              </a:rPr>
              <a:t> PPT </a:t>
            </a:r>
            <a:r>
              <a:rPr lang="en-US" sz="3599" dirty="0" err="1">
                <a:solidFill>
                  <a:srgbClr val="2D262A"/>
                </a:solidFill>
                <a:latin typeface="Montserrat Classic"/>
              </a:rPr>
              <a:t>untuk</a:t>
            </a:r>
            <a:r>
              <a:rPr lang="en-US" sz="3599" dirty="0">
                <a:solidFill>
                  <a:srgbClr val="2D262A"/>
                </a:solidFill>
                <a:latin typeface="Montserrat Classic"/>
              </a:rPr>
              <a:t> </a:t>
            </a:r>
            <a:r>
              <a:rPr lang="en-US" sz="3599" dirty="0" err="1">
                <a:solidFill>
                  <a:srgbClr val="2D262A"/>
                </a:solidFill>
                <a:latin typeface="Montserrat Classic"/>
              </a:rPr>
              <a:t>presentasi</a:t>
            </a:r>
            <a:r>
              <a:rPr lang="en-US" sz="3599" dirty="0">
                <a:solidFill>
                  <a:srgbClr val="2D262A"/>
                </a:solidFill>
                <a:latin typeface="Montserrat Classic"/>
              </a:rPr>
              <a:t> </a:t>
            </a:r>
            <a:r>
              <a:rPr lang="en-US" sz="3599" dirty="0" err="1">
                <a:solidFill>
                  <a:srgbClr val="2D262A"/>
                </a:solidFill>
                <a:latin typeface="Montserrat Classic"/>
              </a:rPr>
              <a:t>minggu</a:t>
            </a:r>
            <a:r>
              <a:rPr lang="en-US" sz="3599" dirty="0">
                <a:solidFill>
                  <a:srgbClr val="2D262A"/>
                </a:solidFill>
                <a:latin typeface="Montserrat Classic"/>
              </a:rPr>
              <a:t> </a:t>
            </a:r>
            <a:r>
              <a:rPr lang="en-US" sz="3599" dirty="0" err="1">
                <a:solidFill>
                  <a:srgbClr val="2D262A"/>
                </a:solidFill>
                <a:latin typeface="Montserrat Classic"/>
              </a:rPr>
              <a:t>depan</a:t>
            </a:r>
            <a:r>
              <a:rPr lang="en-US" sz="3599" dirty="0">
                <a:solidFill>
                  <a:srgbClr val="2D262A"/>
                </a:solidFill>
                <a:latin typeface="Montserrat Classic"/>
              </a:rPr>
              <a:t> </a:t>
            </a:r>
            <a:r>
              <a:rPr lang="en-US" sz="3599" dirty="0" err="1">
                <a:solidFill>
                  <a:srgbClr val="2D262A"/>
                </a:solidFill>
                <a:latin typeface="Montserrat Classic"/>
              </a:rPr>
              <a:t>mengenai</a:t>
            </a:r>
            <a:r>
              <a:rPr lang="en-US" sz="3599" dirty="0">
                <a:solidFill>
                  <a:srgbClr val="2D262A"/>
                </a:solidFill>
                <a:latin typeface="Montserrat Classic"/>
              </a:rPr>
              <a:t> Web Service yang </a:t>
            </a:r>
            <a:r>
              <a:rPr lang="en-US" sz="3599" dirty="0" err="1">
                <a:solidFill>
                  <a:srgbClr val="2D262A"/>
                </a:solidFill>
                <a:latin typeface="Montserrat Classic"/>
              </a:rPr>
              <a:t>berisi</a:t>
            </a:r>
            <a:r>
              <a:rPr lang="en-US" sz="3599" dirty="0">
                <a:solidFill>
                  <a:srgbClr val="2D262A"/>
                </a:solidFill>
                <a:latin typeface="Montserrat Classic"/>
              </a:rPr>
              <a:t> :</a:t>
            </a:r>
          </a:p>
          <a:p>
            <a:pPr marL="1417317" lvl="2" indent="-571500">
              <a:lnSpc>
                <a:spcPts val="5039"/>
              </a:lnSpc>
              <a:buFont typeface="Wingdings" panose="05000000000000000000" pitchFamily="2" charset="2"/>
              <a:buChar char="ü"/>
            </a:pPr>
            <a:r>
              <a:rPr lang="en-US" sz="3599" dirty="0" err="1">
                <a:solidFill>
                  <a:srgbClr val="2D262A"/>
                </a:solidFill>
                <a:latin typeface="Montserrat Classic"/>
              </a:rPr>
              <a:t>Pengertian</a:t>
            </a:r>
            <a:r>
              <a:rPr lang="en-US" sz="3599" dirty="0">
                <a:solidFill>
                  <a:srgbClr val="2D262A"/>
                </a:solidFill>
                <a:latin typeface="Montserrat Classic"/>
              </a:rPr>
              <a:t> Web Service</a:t>
            </a:r>
          </a:p>
          <a:p>
            <a:pPr marL="1417317" lvl="2" indent="-571500">
              <a:lnSpc>
                <a:spcPts val="5039"/>
              </a:lnSpc>
              <a:buFont typeface="Wingdings" panose="05000000000000000000" pitchFamily="2" charset="2"/>
              <a:buChar char="ü"/>
            </a:pPr>
            <a:r>
              <a:rPr lang="en-ID" sz="3600" dirty="0"/>
              <a:t>Cara </a:t>
            </a:r>
            <a:r>
              <a:rPr lang="en-ID" sz="3600" dirty="0" err="1"/>
              <a:t>Kerja</a:t>
            </a:r>
            <a:r>
              <a:rPr lang="en-ID" sz="3600" dirty="0"/>
              <a:t> Web Service</a:t>
            </a:r>
          </a:p>
          <a:p>
            <a:pPr marL="1417317" lvl="2" indent="-571500">
              <a:lnSpc>
                <a:spcPts val="5039"/>
              </a:lnSpc>
              <a:buFont typeface="Wingdings" panose="05000000000000000000" pitchFamily="2" charset="2"/>
              <a:buChar char="ü"/>
            </a:pPr>
            <a:r>
              <a:rPr lang="en-ID" sz="3600" dirty="0" err="1"/>
              <a:t>Teknologi</a:t>
            </a:r>
            <a:r>
              <a:rPr lang="en-ID" sz="3600" dirty="0"/>
              <a:t> yang </a:t>
            </a:r>
            <a:r>
              <a:rPr lang="en-ID" sz="3600" dirty="0" err="1"/>
              <a:t>Digunakan</a:t>
            </a:r>
            <a:r>
              <a:rPr lang="en-ID" sz="3600" dirty="0"/>
              <a:t> </a:t>
            </a:r>
            <a:r>
              <a:rPr lang="en-ID" sz="3600" dirty="0" err="1"/>
              <a:t>dalam</a:t>
            </a:r>
            <a:r>
              <a:rPr lang="en-ID" sz="3600" dirty="0"/>
              <a:t> Web Service</a:t>
            </a:r>
          </a:p>
          <a:p>
            <a:pPr marL="1417317" lvl="2" indent="-571500">
              <a:lnSpc>
                <a:spcPts val="5039"/>
              </a:lnSpc>
              <a:buFont typeface="Wingdings" panose="05000000000000000000" pitchFamily="2" charset="2"/>
              <a:buChar char="ü"/>
            </a:pPr>
            <a:r>
              <a:rPr lang="en-US" sz="3599" dirty="0" err="1">
                <a:solidFill>
                  <a:srgbClr val="2D262A"/>
                </a:solidFill>
                <a:latin typeface="Montserrat Classic"/>
              </a:rPr>
              <a:t>Studi</a:t>
            </a:r>
            <a:r>
              <a:rPr lang="en-US" sz="3599" dirty="0">
                <a:solidFill>
                  <a:srgbClr val="2D262A"/>
                </a:solidFill>
                <a:latin typeface="Montserrat Classic"/>
              </a:rPr>
              <a:t> </a:t>
            </a:r>
            <a:r>
              <a:rPr lang="en-US" sz="3599" dirty="0" err="1">
                <a:solidFill>
                  <a:srgbClr val="2D262A"/>
                </a:solidFill>
                <a:latin typeface="Montserrat Classic"/>
              </a:rPr>
              <a:t>Kasus</a:t>
            </a:r>
            <a:r>
              <a:rPr lang="en-US" sz="3599" dirty="0">
                <a:solidFill>
                  <a:srgbClr val="2D262A"/>
                </a:solidFill>
                <a:latin typeface="Montserrat Classic"/>
              </a:rPr>
              <a:t> Pada </a:t>
            </a:r>
            <a:r>
              <a:rPr lang="en-US" sz="3599" dirty="0" err="1">
                <a:solidFill>
                  <a:srgbClr val="2D262A"/>
                </a:solidFill>
                <a:latin typeface="Montserrat Classic"/>
              </a:rPr>
              <a:t>Penggunaan</a:t>
            </a:r>
            <a:r>
              <a:rPr lang="en-US" sz="3599" dirty="0">
                <a:solidFill>
                  <a:srgbClr val="2D262A"/>
                </a:solidFill>
                <a:latin typeface="Montserrat Classic"/>
              </a:rPr>
              <a:t> Web Service</a:t>
            </a:r>
          </a:p>
          <a:p>
            <a:pPr marL="1417317" lvl="2" indent="-571500">
              <a:lnSpc>
                <a:spcPts val="5039"/>
              </a:lnSpc>
              <a:buFont typeface="Wingdings" panose="05000000000000000000" pitchFamily="2" charset="2"/>
              <a:buChar char="ü"/>
            </a:pPr>
            <a:r>
              <a:rPr lang="en-ID" sz="3600" dirty="0"/>
              <a:t>Kesimpulan</a:t>
            </a:r>
          </a:p>
          <a:p>
            <a:pPr marL="1417317" lvl="2" indent="-571500">
              <a:lnSpc>
                <a:spcPts val="5039"/>
              </a:lnSpc>
              <a:buFont typeface="Wingdings" panose="05000000000000000000" pitchFamily="2" charset="2"/>
              <a:buChar char="ü"/>
            </a:pPr>
            <a:endParaRPr lang="en-US" sz="3599" dirty="0">
              <a:solidFill>
                <a:srgbClr val="2D262A"/>
              </a:solidFill>
              <a:latin typeface="Montserrat Classic"/>
            </a:endParaRPr>
          </a:p>
          <a:p>
            <a:pPr marL="845817" lvl="2">
              <a:lnSpc>
                <a:spcPts val="5039"/>
              </a:lnSpc>
            </a:pPr>
            <a:r>
              <a:rPr lang="en-US" sz="3599" dirty="0">
                <a:solidFill>
                  <a:srgbClr val="2D262A"/>
                </a:solidFill>
                <a:latin typeface="Montserrat Classic"/>
              </a:rPr>
              <a:t>Per </a:t>
            </a:r>
            <a:r>
              <a:rPr lang="en-US" sz="3599" dirty="0" err="1">
                <a:solidFill>
                  <a:srgbClr val="2D262A"/>
                </a:solidFill>
                <a:latin typeface="Montserrat Classic"/>
              </a:rPr>
              <a:t>kelompok</a:t>
            </a:r>
            <a:r>
              <a:rPr lang="en-US" sz="3599" dirty="0">
                <a:solidFill>
                  <a:srgbClr val="2D262A"/>
                </a:solidFill>
                <a:latin typeface="Montserrat Classic"/>
              </a:rPr>
              <a:t> </a:t>
            </a:r>
            <a:r>
              <a:rPr lang="en-US" sz="3599" dirty="0" err="1">
                <a:solidFill>
                  <a:srgbClr val="2D262A"/>
                </a:solidFill>
                <a:latin typeface="Montserrat Classic"/>
              </a:rPr>
              <a:t>berisi</a:t>
            </a:r>
            <a:r>
              <a:rPr lang="en-US" sz="3599" dirty="0">
                <a:solidFill>
                  <a:srgbClr val="2D262A"/>
                </a:solidFill>
                <a:latin typeface="Montserrat Classic"/>
              </a:rPr>
              <a:t> </a:t>
            </a:r>
            <a:r>
              <a:rPr lang="en-US" sz="3599" dirty="0" err="1">
                <a:solidFill>
                  <a:srgbClr val="2D262A"/>
                </a:solidFill>
                <a:latin typeface="Montserrat Classic"/>
              </a:rPr>
              <a:t>maksimal</a:t>
            </a:r>
            <a:r>
              <a:rPr lang="en-US" sz="3599" dirty="0">
                <a:solidFill>
                  <a:srgbClr val="2D262A"/>
                </a:solidFill>
                <a:latin typeface="Montserrat Classic"/>
              </a:rPr>
              <a:t> 3 orang, </a:t>
            </a:r>
            <a:r>
              <a:rPr lang="en-US" sz="3599" dirty="0" err="1">
                <a:solidFill>
                  <a:srgbClr val="2D262A"/>
                </a:solidFill>
                <a:latin typeface="Montserrat Classic"/>
              </a:rPr>
              <a:t>studi</a:t>
            </a:r>
            <a:r>
              <a:rPr lang="en-US" sz="3599" dirty="0">
                <a:solidFill>
                  <a:srgbClr val="2D262A"/>
                </a:solidFill>
                <a:latin typeface="Montserrat Classic"/>
              </a:rPr>
              <a:t> </a:t>
            </a:r>
            <a:r>
              <a:rPr lang="en-US" sz="3599" dirty="0" err="1">
                <a:solidFill>
                  <a:srgbClr val="2D262A"/>
                </a:solidFill>
                <a:latin typeface="Montserrat Classic"/>
              </a:rPr>
              <a:t>kasus</a:t>
            </a:r>
            <a:r>
              <a:rPr lang="en-US" sz="3599" dirty="0">
                <a:solidFill>
                  <a:srgbClr val="2D262A"/>
                </a:solidFill>
                <a:latin typeface="Montserrat Classic"/>
              </a:rPr>
              <a:t> </a:t>
            </a:r>
            <a:r>
              <a:rPr lang="en-US" sz="3599" dirty="0" err="1">
                <a:solidFill>
                  <a:srgbClr val="2D262A"/>
                </a:solidFill>
                <a:latin typeface="Montserrat Classic"/>
              </a:rPr>
              <a:t>tidak</a:t>
            </a:r>
            <a:r>
              <a:rPr lang="en-US" sz="3599" dirty="0">
                <a:solidFill>
                  <a:srgbClr val="2D262A"/>
                </a:solidFill>
                <a:latin typeface="Montserrat Classic"/>
              </a:rPr>
              <a:t> </a:t>
            </a:r>
            <a:r>
              <a:rPr lang="en-US" sz="3599" dirty="0" err="1">
                <a:solidFill>
                  <a:srgbClr val="2D262A"/>
                </a:solidFill>
                <a:latin typeface="Montserrat Classic"/>
              </a:rPr>
              <a:t>boleh</a:t>
            </a:r>
            <a:r>
              <a:rPr lang="en-US" sz="3599" dirty="0">
                <a:solidFill>
                  <a:srgbClr val="2D262A"/>
                </a:solidFill>
                <a:latin typeface="Montserrat Classic"/>
              </a:rPr>
              <a:t> </a:t>
            </a:r>
            <a:r>
              <a:rPr lang="en-US" sz="3599" dirty="0" err="1">
                <a:solidFill>
                  <a:srgbClr val="2D262A"/>
                </a:solidFill>
                <a:latin typeface="Montserrat Classic"/>
              </a:rPr>
              <a:t>sama</a:t>
            </a:r>
            <a:r>
              <a:rPr lang="en-US" sz="3599" dirty="0">
                <a:solidFill>
                  <a:srgbClr val="2D262A"/>
                </a:solidFill>
                <a:latin typeface="Montserrat Classic"/>
              </a:rPr>
              <a:t> </a:t>
            </a:r>
            <a:r>
              <a:rPr lang="en-US" sz="3599" dirty="0" err="1">
                <a:solidFill>
                  <a:srgbClr val="2D262A"/>
                </a:solidFill>
                <a:latin typeface="Montserrat Classic"/>
              </a:rPr>
              <a:t>antar</a:t>
            </a:r>
            <a:r>
              <a:rPr lang="en-US" sz="3599" dirty="0">
                <a:solidFill>
                  <a:srgbClr val="2D262A"/>
                </a:solidFill>
                <a:latin typeface="Montserrat Classic"/>
              </a:rPr>
              <a:t> </a:t>
            </a:r>
            <a:r>
              <a:rPr lang="en-US" sz="3599" dirty="0" err="1">
                <a:solidFill>
                  <a:srgbClr val="2D262A"/>
                </a:solidFill>
                <a:latin typeface="Montserrat Classic"/>
              </a:rPr>
              <a:t>kelompok</a:t>
            </a:r>
            <a:endParaRPr lang="en-ID" sz="3600" dirty="0">
              <a:solidFill>
                <a:srgbClr val="2D262A"/>
              </a:solidFill>
              <a:latin typeface="Montserrat Classic"/>
            </a:endParaRPr>
          </a:p>
        </p:txBody>
      </p:sp>
    </p:spTree>
    <p:extLst>
      <p:ext uri="{BB962C8B-B14F-4D97-AF65-F5344CB8AC3E}">
        <p14:creationId xmlns:p14="http://schemas.microsoft.com/office/powerpoint/2010/main" val="5640408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896</TotalTime>
  <Words>1461</Words>
  <Application>Microsoft Macintosh PowerPoint</Application>
  <PresentationFormat>Custom</PresentationFormat>
  <Paragraphs>181</Paragraphs>
  <Slides>14</Slides>
  <Notes>5</Notes>
  <HiddenSlides>2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4" baseType="lpstr">
      <vt:lpstr>Glacial Indifference Bold</vt:lpstr>
      <vt:lpstr>Montserrat Classic</vt:lpstr>
      <vt:lpstr>Montserrat Classic Bold</vt:lpstr>
      <vt:lpstr>Montserrat Heavy</vt:lpstr>
      <vt:lpstr>Montserrat Ultra-Bold</vt:lpstr>
      <vt:lpstr>Aptos</vt:lpstr>
      <vt:lpstr>Arial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INDRA</dc:creator>
  <cp:lastModifiedBy>Indra Riksa</cp:lastModifiedBy>
  <cp:revision>111</cp:revision>
  <dcterms:created xsi:type="dcterms:W3CDTF">2006-08-16T00:00:00Z</dcterms:created>
  <dcterms:modified xsi:type="dcterms:W3CDTF">2026-03-02T06:00:09Z</dcterms:modified>
  <dc:identifier>DAF98vYDZJo</dc:identifier>
</cp:coreProperties>
</file>